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7"/>
  </p:notesMasterIdLst>
  <p:handoutMasterIdLst>
    <p:handoutMasterId r:id="rId18"/>
  </p:handoutMasterIdLst>
  <p:sldIdLst>
    <p:sldId id="258" r:id="rId2"/>
    <p:sldId id="271" r:id="rId3"/>
    <p:sldId id="272" r:id="rId4"/>
    <p:sldId id="273" r:id="rId5"/>
    <p:sldId id="274" r:id="rId6"/>
    <p:sldId id="282" r:id="rId7"/>
    <p:sldId id="283" r:id="rId8"/>
    <p:sldId id="275" r:id="rId9"/>
    <p:sldId id="276" r:id="rId10"/>
    <p:sldId id="277" r:id="rId11"/>
    <p:sldId id="278" r:id="rId12"/>
    <p:sldId id="279" r:id="rId13"/>
    <p:sldId id="280" r:id="rId14"/>
    <p:sldId id="281" r:id="rId15"/>
    <p:sldId id="28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C4CCFF-AB04-4020-B456-43B49A4AB8B5}">
          <p14:sldIdLst>
            <p14:sldId id="258"/>
            <p14:sldId id="271"/>
            <p14:sldId id="272"/>
            <p14:sldId id="273"/>
            <p14:sldId id="274"/>
            <p14:sldId id="282"/>
            <p14:sldId id="283"/>
            <p14:sldId id="275"/>
            <p14:sldId id="276"/>
            <p14:sldId id="277"/>
            <p14:sldId id="278"/>
            <p14:sldId id="279"/>
            <p14:sldId id="280"/>
            <p14:sldId id="281"/>
          </p14:sldIdLst>
        </p14:section>
        <p14:section name="Copy Activity" id="{6B9C4A9E-2EFF-49F9-831B-DB8D54E8080C}">
          <p14:sldIdLst>
            <p14:sldId id="2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88" autoAdjust="0"/>
    <p:restoredTop sz="94660"/>
  </p:normalViewPr>
  <p:slideViewPr>
    <p:cSldViewPr snapToGrid="0">
      <p:cViewPr varScale="1">
        <p:scale>
          <a:sx n="81" d="100"/>
          <a:sy n="81" d="100"/>
        </p:scale>
        <p:origin x="390" y="36"/>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6/6/2026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6/6/2026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D491D0-8E1B-49C7-849B-A28568D94497}" type="slidenum">
              <a:rPr lang="en-IN" smtClean="0"/>
              <a:t>9</a:t>
            </a:fld>
            <a:endParaRPr lang="en-IN"/>
          </a:p>
        </p:txBody>
      </p:sp>
    </p:spTree>
    <p:extLst>
      <p:ext uri="{BB962C8B-B14F-4D97-AF65-F5344CB8AC3E}">
        <p14:creationId xmlns:p14="http://schemas.microsoft.com/office/powerpoint/2010/main" val="3087034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A5A20-C052-8FB7-EB1E-ECEF3A0E5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B1F15-F014-7603-0893-C22DC6BBC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35B0A6-6CD4-46C2-7E30-459A819C33C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43E5273-A78A-9B25-FD54-1F6415F4FCE7}"/>
              </a:ext>
            </a:extLst>
          </p:cNvPr>
          <p:cNvSpPr>
            <a:spLocks noGrp="1"/>
          </p:cNvSpPr>
          <p:nvPr>
            <p:ph type="sldNum" sz="quarter" idx="5"/>
          </p:nvPr>
        </p:nvSpPr>
        <p:spPr/>
        <p:txBody>
          <a:bodyPr/>
          <a:lstStyle/>
          <a:p>
            <a:fld id="{DED491D0-8E1B-49C7-849B-A28568D94497}" type="slidenum">
              <a:rPr lang="en-IN" smtClean="0"/>
              <a:t>10</a:t>
            </a:fld>
            <a:endParaRPr lang="en-IN"/>
          </a:p>
        </p:txBody>
      </p:sp>
    </p:spTree>
    <p:extLst>
      <p:ext uri="{BB962C8B-B14F-4D97-AF65-F5344CB8AC3E}">
        <p14:creationId xmlns:p14="http://schemas.microsoft.com/office/powerpoint/2010/main" val="3002795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6B5E7-63A8-1A78-B787-A5134CB85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1A4A2-6ABB-CB78-4A10-C42E35A97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B1D0C-E0E1-4FFC-73EB-BA82B4CD90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BDE0BE-E117-819A-5CB3-DE28A596465F}"/>
              </a:ext>
            </a:extLst>
          </p:cNvPr>
          <p:cNvSpPr>
            <a:spLocks noGrp="1"/>
          </p:cNvSpPr>
          <p:nvPr>
            <p:ph type="sldNum" sz="quarter" idx="5"/>
          </p:nvPr>
        </p:nvSpPr>
        <p:spPr/>
        <p:txBody>
          <a:bodyPr/>
          <a:lstStyle/>
          <a:p>
            <a:fld id="{DED491D0-8E1B-49C7-849B-A28568D94497}" type="slidenum">
              <a:rPr lang="en-IN" smtClean="0"/>
              <a:t>11</a:t>
            </a:fld>
            <a:endParaRPr lang="en-IN"/>
          </a:p>
        </p:txBody>
      </p:sp>
    </p:spTree>
    <p:extLst>
      <p:ext uri="{BB962C8B-B14F-4D97-AF65-F5344CB8AC3E}">
        <p14:creationId xmlns:p14="http://schemas.microsoft.com/office/powerpoint/2010/main" val="520560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5D85-90B8-5DD9-79F6-84D9A2355B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C705C-113B-44A4-1B8D-1DFE365E0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D0B6E-C290-6B86-0B43-23E6F16459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9E5689-66E0-178B-9901-7D2E560941A0}"/>
              </a:ext>
            </a:extLst>
          </p:cNvPr>
          <p:cNvSpPr>
            <a:spLocks noGrp="1"/>
          </p:cNvSpPr>
          <p:nvPr>
            <p:ph type="sldNum" sz="quarter" idx="5"/>
          </p:nvPr>
        </p:nvSpPr>
        <p:spPr/>
        <p:txBody>
          <a:bodyPr/>
          <a:lstStyle/>
          <a:p>
            <a:fld id="{DED491D0-8E1B-49C7-849B-A28568D94497}" type="slidenum">
              <a:rPr lang="en-IN" smtClean="0"/>
              <a:t>12</a:t>
            </a:fld>
            <a:endParaRPr lang="en-IN"/>
          </a:p>
        </p:txBody>
      </p:sp>
    </p:spTree>
    <p:extLst>
      <p:ext uri="{BB962C8B-B14F-4D97-AF65-F5344CB8AC3E}">
        <p14:creationId xmlns:p14="http://schemas.microsoft.com/office/powerpoint/2010/main" val="20465562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6/6/2026</a:t>
            </a:fld>
            <a:endParaRPr lang="en-US" dirty="0"/>
          </a:p>
        </p:txBody>
      </p:sp>
      <p:sp>
        <p:nvSpPr>
          <p:cNvPr id="12"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13"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6/6/2026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6/6/2026</a:t>
            </a:fld>
            <a:endParaRPr lang="en-US"/>
          </a:p>
        </p:txBody>
      </p:sp>
      <p:sp>
        <p:nvSpPr>
          <p:cNvPr id="5"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80160" y="2194560"/>
            <a:ext cx="4489704" cy="3986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15368" y="2194560"/>
            <a:ext cx="4493424" cy="3986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6/6/2026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2CCFE9AC-F15C-4FA0-A6F1-298829FA691D}" type="datetimeFigureOut">
              <a:rPr lang="en-US"/>
              <a:t>6/6/2026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2CCFE9AC-F15C-4FA0-A6F1-298829FA691D}" type="datetimeFigureOut">
              <a:rPr lang="en-US"/>
              <a:t>6/6/2026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6/6/2026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3"/>
          <p:cNvSpPr>
            <a:spLocks noGrp="1"/>
          </p:cNvSpPr>
          <p:nvPr>
            <p:ph idx="1"/>
          </p:nvPr>
        </p:nvSpPr>
        <p:spPr>
          <a:xfrm>
            <a:off x="5518897" y="2465294"/>
            <a:ext cx="5174504" cy="3711669"/>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6/6/2026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2CCFE9AC-F15C-4FA0-A6F1-298829FA691D}" type="datetimeFigureOut">
              <a:rPr lang="en-US"/>
              <a:t>6/6/2026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6/6/2026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2" name="Vertical Title 1"/>
          <p:cNvSpPr>
            <a:spLocks noGrp="1"/>
          </p:cNvSpPr>
          <p:nvPr>
            <p:ph type="title" orient="vert"/>
          </p:nvPr>
        </p:nvSpPr>
        <p:spPr>
          <a:xfrm>
            <a:off x="10266348" y="462249"/>
            <a:ext cx="1370886" cy="5714714"/>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378199" y="462249"/>
            <a:ext cx="9693088" cy="57147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6/6/2026</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baseline="0">
                <a:solidFill>
                  <a:schemeClr val="tx1"/>
                </a:solidFill>
              </a:defRPr>
            </a:lvl1pPr>
          </a:lstStyle>
          <a:p>
            <a:fld id="{2CCFE9AC-F15C-4FA0-A6F1-298829FA691D}" type="datetimeFigureOut">
              <a:rPr lang="en-US" smtClean="0"/>
              <a:pPr/>
              <a:t>6/6/2026</a:t>
            </a:fld>
            <a:endParaRPr lang="en-US" dirty="0"/>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baseline="0">
                <a:solidFill>
                  <a:schemeClr val="tx1"/>
                </a:solidFill>
              </a:defRPr>
            </a:lvl1pPr>
          </a:lstStyle>
          <a:p>
            <a:endParaRPr lang="en-US"/>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baseline="0">
                <a:solidFill>
                  <a:schemeClr val="tx1"/>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Azure Data Engineering</a:t>
            </a:r>
          </a:p>
        </p:txBody>
      </p:sp>
      <p:sp>
        <p:nvSpPr>
          <p:cNvPr id="3" name="Subtitle 2"/>
          <p:cNvSpPr>
            <a:spLocks noGrp="1"/>
          </p:cNvSpPr>
          <p:nvPr>
            <p:ph type="subTitle" idx="1"/>
          </p:nvPr>
        </p:nvSpPr>
        <p:spPr/>
        <p:txBody>
          <a:bodyPr/>
          <a:lstStyle/>
          <a:p>
            <a:r>
              <a:rPr lang="en-US" dirty="0"/>
              <a:t>Ravi Kumar</a:t>
            </a: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54BBD-2C2E-E183-FAA8-9861F1118D23}"/>
              </a:ext>
            </a:extLst>
          </p:cNvPr>
          <p:cNvSpPr>
            <a:spLocks noGrp="1"/>
          </p:cNvSpPr>
          <p:nvPr>
            <p:ph type="title"/>
          </p:nvPr>
        </p:nvSpPr>
        <p:spPr/>
        <p:txBody>
          <a:bodyPr/>
          <a:lstStyle/>
          <a:p>
            <a:r>
              <a:rPr lang="en-IN" dirty="0"/>
              <a:t>Types of Subscriptions </a:t>
            </a:r>
          </a:p>
        </p:txBody>
      </p:sp>
      <p:sp>
        <p:nvSpPr>
          <p:cNvPr id="5" name="TextBox 4">
            <a:extLst>
              <a:ext uri="{FF2B5EF4-FFF2-40B4-BE49-F238E27FC236}">
                <a16:creationId xmlns:a16="http://schemas.microsoft.com/office/drawing/2014/main" id="{68CA767E-73C5-EB81-C6FA-9292A661C576}"/>
              </a:ext>
            </a:extLst>
          </p:cNvPr>
          <p:cNvSpPr txBox="1"/>
          <p:nvPr/>
        </p:nvSpPr>
        <p:spPr>
          <a:xfrm>
            <a:off x="3824377" y="2041585"/>
            <a:ext cx="7867291" cy="4801314"/>
          </a:xfrm>
          <a:prstGeom prst="roundRect">
            <a:avLst/>
          </a:prstGeom>
          <a:noFill/>
          <a:ln>
            <a:solidFill>
              <a:schemeClr val="tx1">
                <a:lumMod val="75000"/>
              </a:schemeClr>
            </a:solidFill>
          </a:ln>
        </p:spPr>
        <p:txBody>
          <a:bodyPr wrap="square" rtlCol="0">
            <a:spAutoFit/>
          </a:bodyPr>
          <a:lstStyle/>
          <a:p>
            <a:pPr marL="342900" lvl="0" indent="-342900">
              <a:buFont typeface="Arial" panose="020B0604020202020204" pitchFamily="34" charset="0"/>
              <a:buChar char="•"/>
            </a:pPr>
            <a:r>
              <a:rPr lang="en-IN" sz="2000" b="1" dirty="0"/>
              <a:t>Free Trial</a:t>
            </a:r>
            <a:r>
              <a:rPr lang="en-IN" sz="2000" dirty="0"/>
              <a:t>: Offers limited free access to a variety of Azure services for a specified period (typically 30 days) with some free credits to start with.</a:t>
            </a:r>
          </a:p>
          <a:p>
            <a:pPr marL="342900" lvl="0" indent="-342900">
              <a:buFont typeface="Arial" panose="020B0604020202020204" pitchFamily="34" charset="0"/>
              <a:buChar char="•"/>
            </a:pPr>
            <a:r>
              <a:rPr lang="en-IN" sz="2000" b="1" dirty="0"/>
              <a:t>Pay-As-You-Go</a:t>
            </a:r>
            <a:r>
              <a:rPr lang="en-IN" sz="2000" dirty="0"/>
              <a:t>: Charges you only for the resources you use without any upfront commitment.</a:t>
            </a:r>
          </a:p>
          <a:p>
            <a:pPr marL="342900" lvl="0" indent="-342900">
              <a:buFont typeface="Arial" panose="020B0604020202020204" pitchFamily="34" charset="0"/>
              <a:buChar char="•"/>
            </a:pPr>
            <a:r>
              <a:rPr lang="en-IN" sz="2000" b="1" dirty="0"/>
              <a:t>Enterprise Agreement (EA)</a:t>
            </a:r>
            <a:r>
              <a:rPr lang="en-IN" sz="2000" dirty="0"/>
              <a:t>: Designed for larger organizations with discounted rates based on usage commitments.</a:t>
            </a:r>
          </a:p>
          <a:p>
            <a:pPr marL="342900" lvl="0" indent="-342900">
              <a:buFont typeface="Arial" panose="020B0604020202020204" pitchFamily="34" charset="0"/>
              <a:buChar char="•"/>
            </a:pPr>
            <a:r>
              <a:rPr lang="en-IN" sz="2000" b="1" dirty="0"/>
              <a:t>Cloud Solution Provider (CSP)</a:t>
            </a:r>
            <a:r>
              <a:rPr lang="en-IN" sz="2000" dirty="0"/>
              <a:t>: Managed by Microsoft partners, providing flexible solutions and support for businesses.</a:t>
            </a:r>
          </a:p>
          <a:p>
            <a:pPr marL="342900" lvl="0" indent="-342900">
              <a:buFont typeface="Arial" panose="020B0604020202020204" pitchFamily="34" charset="0"/>
              <a:buChar char="•"/>
            </a:pPr>
            <a:r>
              <a:rPr lang="en-IN" sz="2000" b="1" dirty="0"/>
              <a:t>Visual Studio (MSDN) Subscription</a:t>
            </a:r>
            <a:r>
              <a:rPr lang="en-IN" sz="2000" dirty="0"/>
              <a:t>: Offers monthly Azure credits as part of Visual Studio subscription benefits, ideal for developers.</a:t>
            </a:r>
          </a:p>
          <a:p>
            <a:pPr marL="342900" lvl="0" indent="-342900">
              <a:buFont typeface="Arial" panose="020B0604020202020204" pitchFamily="34" charset="0"/>
              <a:buChar char="•"/>
            </a:pPr>
            <a:r>
              <a:rPr lang="en-IN" sz="2000" b="1" dirty="0"/>
              <a:t>Student Subscription</a:t>
            </a:r>
            <a:r>
              <a:rPr lang="en-IN" sz="2000" dirty="0"/>
              <a:t>: Provides free credits and access to Azure services for students to support learning and development.</a:t>
            </a:r>
          </a:p>
          <a:p>
            <a:pPr lvl="0"/>
            <a:endParaRPr lang="en-IN" sz="1600" dirty="0"/>
          </a:p>
        </p:txBody>
      </p:sp>
      <p:grpSp>
        <p:nvGrpSpPr>
          <p:cNvPr id="19" name="Group 18">
            <a:extLst>
              <a:ext uri="{FF2B5EF4-FFF2-40B4-BE49-F238E27FC236}">
                <a16:creationId xmlns:a16="http://schemas.microsoft.com/office/drawing/2014/main" id="{73C7F45E-0E0E-ECE6-538B-0741C410FDE7}"/>
              </a:ext>
            </a:extLst>
          </p:cNvPr>
          <p:cNvGrpSpPr/>
          <p:nvPr/>
        </p:nvGrpSpPr>
        <p:grpSpPr>
          <a:xfrm>
            <a:off x="-1" y="2231365"/>
            <a:ext cx="3761117" cy="4410975"/>
            <a:chOff x="2030083" y="2087592"/>
            <a:chExt cx="5894717" cy="3024997"/>
          </a:xfrm>
        </p:grpSpPr>
        <p:sp>
          <p:nvSpPr>
            <p:cNvPr id="20" name="Rectangle: Rounded Corners 19">
              <a:extLst>
                <a:ext uri="{FF2B5EF4-FFF2-40B4-BE49-F238E27FC236}">
                  <a16:creationId xmlns:a16="http://schemas.microsoft.com/office/drawing/2014/main" id="{B6FABAD7-EC77-6483-A1EF-95366AF4C038}"/>
                </a:ext>
              </a:extLst>
            </p:cNvPr>
            <p:cNvSpPr/>
            <p:nvPr/>
          </p:nvSpPr>
          <p:spPr>
            <a:xfrm>
              <a:off x="2257245" y="444657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Resource1</a:t>
              </a:r>
              <a:endParaRPr lang="en-IN" sz="1000" dirty="0">
                <a:solidFill>
                  <a:schemeClr val="tx1"/>
                </a:solidFill>
              </a:endParaRPr>
            </a:p>
          </p:txBody>
        </p:sp>
        <p:sp>
          <p:nvSpPr>
            <p:cNvPr id="21" name="Rectangle: Rounded Corners 20">
              <a:extLst>
                <a:ext uri="{FF2B5EF4-FFF2-40B4-BE49-F238E27FC236}">
                  <a16:creationId xmlns:a16="http://schemas.microsoft.com/office/drawing/2014/main" id="{CCA96A2E-3B2D-D2F1-75A5-285B25905A0B}"/>
                </a:ext>
              </a:extLst>
            </p:cNvPr>
            <p:cNvSpPr/>
            <p:nvPr/>
          </p:nvSpPr>
          <p:spPr>
            <a:xfrm>
              <a:off x="6987400" y="444657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Resource6</a:t>
              </a:r>
              <a:endParaRPr lang="en-IN" sz="1000" dirty="0">
                <a:solidFill>
                  <a:schemeClr val="tx1"/>
                </a:solidFill>
              </a:endParaRPr>
            </a:p>
          </p:txBody>
        </p:sp>
        <p:grpSp>
          <p:nvGrpSpPr>
            <p:cNvPr id="22" name="Group 21">
              <a:extLst>
                <a:ext uri="{FF2B5EF4-FFF2-40B4-BE49-F238E27FC236}">
                  <a16:creationId xmlns:a16="http://schemas.microsoft.com/office/drawing/2014/main" id="{28CEECA0-636E-D176-59FF-98742A4ACBC8}"/>
                </a:ext>
              </a:extLst>
            </p:cNvPr>
            <p:cNvGrpSpPr/>
            <p:nvPr/>
          </p:nvGrpSpPr>
          <p:grpSpPr>
            <a:xfrm>
              <a:off x="2030083" y="2087592"/>
              <a:ext cx="5894717" cy="3024997"/>
              <a:chOff x="2030083" y="2087592"/>
              <a:chExt cx="5894717" cy="3024997"/>
            </a:xfrm>
          </p:grpSpPr>
          <p:sp>
            <p:nvSpPr>
              <p:cNvPr id="23" name="Rectangle: Rounded Corners 22">
                <a:extLst>
                  <a:ext uri="{FF2B5EF4-FFF2-40B4-BE49-F238E27FC236}">
                    <a16:creationId xmlns:a16="http://schemas.microsoft.com/office/drawing/2014/main" id="{13B8A292-12B9-B544-B194-CA554B501C56}"/>
                  </a:ext>
                </a:extLst>
              </p:cNvPr>
              <p:cNvSpPr/>
              <p:nvPr/>
            </p:nvSpPr>
            <p:spPr>
              <a:xfrm>
                <a:off x="3203276" y="444657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Resource2</a:t>
                </a:r>
                <a:endParaRPr lang="en-IN" sz="1000" dirty="0">
                  <a:solidFill>
                    <a:schemeClr val="tx1"/>
                  </a:solidFill>
                </a:endParaRPr>
              </a:p>
            </p:txBody>
          </p:sp>
          <p:sp>
            <p:nvSpPr>
              <p:cNvPr id="24" name="Rectangle: Rounded Corners 23">
                <a:extLst>
                  <a:ext uri="{FF2B5EF4-FFF2-40B4-BE49-F238E27FC236}">
                    <a16:creationId xmlns:a16="http://schemas.microsoft.com/office/drawing/2014/main" id="{74194FD2-9F2E-152B-11C5-417149EF399E}"/>
                  </a:ext>
                </a:extLst>
              </p:cNvPr>
              <p:cNvSpPr/>
              <p:nvPr/>
            </p:nvSpPr>
            <p:spPr>
              <a:xfrm>
                <a:off x="4149307" y="444657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Resource3</a:t>
                </a:r>
                <a:endParaRPr lang="en-IN" sz="1000" dirty="0">
                  <a:solidFill>
                    <a:schemeClr val="tx1"/>
                  </a:solidFill>
                </a:endParaRPr>
              </a:p>
            </p:txBody>
          </p:sp>
          <p:sp>
            <p:nvSpPr>
              <p:cNvPr id="25" name="Rectangle: Rounded Corners 24">
                <a:extLst>
                  <a:ext uri="{FF2B5EF4-FFF2-40B4-BE49-F238E27FC236}">
                    <a16:creationId xmlns:a16="http://schemas.microsoft.com/office/drawing/2014/main" id="{F6EE724B-4FC8-893E-53A6-96DC71757D72}"/>
                  </a:ext>
                </a:extLst>
              </p:cNvPr>
              <p:cNvSpPr/>
              <p:nvPr/>
            </p:nvSpPr>
            <p:spPr>
              <a:xfrm>
                <a:off x="5095338" y="444657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Resource4</a:t>
                </a:r>
                <a:endParaRPr lang="en-IN" sz="1000" dirty="0">
                  <a:solidFill>
                    <a:schemeClr val="tx1"/>
                  </a:solidFill>
                </a:endParaRPr>
              </a:p>
            </p:txBody>
          </p:sp>
          <p:sp>
            <p:nvSpPr>
              <p:cNvPr id="26" name="Rectangle: Rounded Corners 25">
                <a:extLst>
                  <a:ext uri="{FF2B5EF4-FFF2-40B4-BE49-F238E27FC236}">
                    <a16:creationId xmlns:a16="http://schemas.microsoft.com/office/drawing/2014/main" id="{915FCD16-CABC-4E90-ABD9-0F26D84F6E55}"/>
                  </a:ext>
                </a:extLst>
              </p:cNvPr>
              <p:cNvSpPr/>
              <p:nvPr/>
            </p:nvSpPr>
            <p:spPr>
              <a:xfrm>
                <a:off x="6041369" y="444657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Resource5</a:t>
                </a:r>
              </a:p>
            </p:txBody>
          </p:sp>
          <p:sp>
            <p:nvSpPr>
              <p:cNvPr id="27" name="Rectangle: Rounded Corners 26">
                <a:extLst>
                  <a:ext uri="{FF2B5EF4-FFF2-40B4-BE49-F238E27FC236}">
                    <a16:creationId xmlns:a16="http://schemas.microsoft.com/office/drawing/2014/main" id="{9F1B67D9-B5E2-FD1C-CC14-A03805C2431F}"/>
                  </a:ext>
                </a:extLst>
              </p:cNvPr>
              <p:cNvSpPr/>
              <p:nvPr/>
            </p:nvSpPr>
            <p:spPr>
              <a:xfrm>
                <a:off x="2799272" y="3770836"/>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 Group</a:t>
                </a:r>
                <a:endParaRPr lang="en-IN" sz="1000" dirty="0">
                  <a:solidFill>
                    <a:schemeClr val="tx1"/>
                  </a:solidFill>
                </a:endParaRPr>
              </a:p>
            </p:txBody>
          </p:sp>
          <p:sp>
            <p:nvSpPr>
              <p:cNvPr id="28" name="Rectangle: Rounded Corners 27">
                <a:extLst>
                  <a:ext uri="{FF2B5EF4-FFF2-40B4-BE49-F238E27FC236}">
                    <a16:creationId xmlns:a16="http://schemas.microsoft.com/office/drawing/2014/main" id="{7EA11722-A241-891F-23AA-3A0FB43CB4C3}"/>
                  </a:ext>
                </a:extLst>
              </p:cNvPr>
              <p:cNvSpPr/>
              <p:nvPr/>
            </p:nvSpPr>
            <p:spPr>
              <a:xfrm>
                <a:off x="3745303" y="3770836"/>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 Group</a:t>
                </a:r>
                <a:endParaRPr lang="en-IN" sz="1000" dirty="0">
                  <a:solidFill>
                    <a:schemeClr val="tx1"/>
                  </a:solidFill>
                </a:endParaRPr>
              </a:p>
            </p:txBody>
          </p:sp>
          <p:sp>
            <p:nvSpPr>
              <p:cNvPr id="29" name="Rectangle: Rounded Corners 28">
                <a:extLst>
                  <a:ext uri="{FF2B5EF4-FFF2-40B4-BE49-F238E27FC236}">
                    <a16:creationId xmlns:a16="http://schemas.microsoft.com/office/drawing/2014/main" id="{6E762D92-956C-A490-79F0-25D77F81C0EB}"/>
                  </a:ext>
                </a:extLst>
              </p:cNvPr>
              <p:cNvSpPr/>
              <p:nvPr/>
            </p:nvSpPr>
            <p:spPr>
              <a:xfrm>
                <a:off x="5499342" y="3770836"/>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 Group</a:t>
                </a:r>
                <a:endParaRPr lang="en-IN" sz="1000" dirty="0"/>
              </a:p>
            </p:txBody>
          </p:sp>
          <p:sp>
            <p:nvSpPr>
              <p:cNvPr id="30" name="Rectangle: Rounded Corners 29">
                <a:extLst>
                  <a:ext uri="{FF2B5EF4-FFF2-40B4-BE49-F238E27FC236}">
                    <a16:creationId xmlns:a16="http://schemas.microsoft.com/office/drawing/2014/main" id="{E11A2B55-4F32-9839-6F35-91AA67394CFD}"/>
                  </a:ext>
                </a:extLst>
              </p:cNvPr>
              <p:cNvSpPr/>
              <p:nvPr/>
            </p:nvSpPr>
            <p:spPr>
              <a:xfrm>
                <a:off x="6445373" y="3770836"/>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Resource Group</a:t>
                </a:r>
                <a:endParaRPr lang="en-IN" sz="1000" dirty="0"/>
              </a:p>
            </p:txBody>
          </p:sp>
          <p:sp>
            <p:nvSpPr>
              <p:cNvPr id="31" name="Rectangle: Rounded Corners 30">
                <a:extLst>
                  <a:ext uri="{FF2B5EF4-FFF2-40B4-BE49-F238E27FC236}">
                    <a16:creationId xmlns:a16="http://schemas.microsoft.com/office/drawing/2014/main" id="{1356E1B7-1C18-263B-EDE3-135AF525DB98}"/>
                  </a:ext>
                </a:extLst>
              </p:cNvPr>
              <p:cNvSpPr/>
              <p:nvPr/>
            </p:nvSpPr>
            <p:spPr>
              <a:xfrm>
                <a:off x="4149307" y="301493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Subscription </a:t>
                </a:r>
                <a:endParaRPr lang="en-IN" sz="1000" dirty="0">
                  <a:solidFill>
                    <a:schemeClr val="tx1"/>
                  </a:solidFill>
                </a:endParaRPr>
              </a:p>
            </p:txBody>
          </p:sp>
          <p:sp>
            <p:nvSpPr>
              <p:cNvPr id="32" name="Rectangle: Rounded Corners 31">
                <a:extLst>
                  <a:ext uri="{FF2B5EF4-FFF2-40B4-BE49-F238E27FC236}">
                    <a16:creationId xmlns:a16="http://schemas.microsoft.com/office/drawing/2014/main" id="{145B2A8F-BF6B-B600-DF8A-A2B0719E9B6C}"/>
                  </a:ext>
                </a:extLst>
              </p:cNvPr>
              <p:cNvSpPr/>
              <p:nvPr/>
            </p:nvSpPr>
            <p:spPr>
              <a:xfrm>
                <a:off x="5095338" y="3014932"/>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Subscription </a:t>
                </a:r>
                <a:endParaRPr lang="en-IN" sz="1000" dirty="0">
                  <a:solidFill>
                    <a:schemeClr val="tx1"/>
                  </a:solidFill>
                </a:endParaRPr>
              </a:p>
            </p:txBody>
          </p:sp>
          <p:sp>
            <p:nvSpPr>
              <p:cNvPr id="33" name="Rectangle: Rounded Corners 32">
                <a:extLst>
                  <a:ext uri="{FF2B5EF4-FFF2-40B4-BE49-F238E27FC236}">
                    <a16:creationId xmlns:a16="http://schemas.microsoft.com/office/drawing/2014/main" id="{328864EE-8FC6-4F6C-BA09-B4F015297F24}"/>
                  </a:ext>
                </a:extLst>
              </p:cNvPr>
              <p:cNvSpPr/>
              <p:nvPr/>
            </p:nvSpPr>
            <p:spPr>
              <a:xfrm>
                <a:off x="4629508" y="2178544"/>
                <a:ext cx="808008" cy="4140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Management Group</a:t>
                </a:r>
                <a:endParaRPr lang="en-IN" sz="700" dirty="0">
                  <a:solidFill>
                    <a:schemeClr val="tx1"/>
                  </a:solidFill>
                </a:endParaRPr>
              </a:p>
            </p:txBody>
          </p:sp>
          <p:cxnSp>
            <p:nvCxnSpPr>
              <p:cNvPr id="34" name="Straight Connector 33">
                <a:extLst>
                  <a:ext uri="{FF2B5EF4-FFF2-40B4-BE49-F238E27FC236}">
                    <a16:creationId xmlns:a16="http://schemas.microsoft.com/office/drawing/2014/main" id="{33EFDEE7-4C3D-03BF-F30B-C9428C5A186A}"/>
                  </a:ext>
                </a:extLst>
              </p:cNvPr>
              <p:cNvCxnSpPr>
                <a:cxnSpLocks/>
                <a:stCxn id="27" idx="2"/>
                <a:endCxn id="20" idx="0"/>
              </p:cNvCxnSpPr>
              <p:nvPr/>
            </p:nvCxnSpPr>
            <p:spPr>
              <a:xfrm flipH="1">
                <a:off x="2661249" y="4184904"/>
                <a:ext cx="542027" cy="261668"/>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16EA8944-3A7C-EBF6-8394-1E0E0C206098}"/>
                  </a:ext>
                </a:extLst>
              </p:cNvPr>
              <p:cNvCxnSpPr/>
              <p:nvPr/>
            </p:nvCxnSpPr>
            <p:spPr>
              <a:xfrm flipH="1">
                <a:off x="3595778" y="4180246"/>
                <a:ext cx="542027" cy="261668"/>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8EBF1E2-6035-089F-FD96-23E8422B78F9}"/>
                  </a:ext>
                </a:extLst>
              </p:cNvPr>
              <p:cNvCxnSpPr>
                <a:cxnSpLocks/>
                <a:stCxn id="28" idx="2"/>
                <a:endCxn id="24" idx="0"/>
              </p:cNvCxnSpPr>
              <p:nvPr/>
            </p:nvCxnSpPr>
            <p:spPr>
              <a:xfrm>
                <a:off x="4149307" y="4184904"/>
                <a:ext cx="404004" cy="261668"/>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15E70D8B-9D54-7730-EB9F-5499ACD5BB54}"/>
                  </a:ext>
                </a:extLst>
              </p:cNvPr>
              <p:cNvCxnSpPr>
                <a:cxnSpLocks/>
                <a:stCxn id="28" idx="2"/>
                <a:endCxn id="25" idx="0"/>
              </p:cNvCxnSpPr>
              <p:nvPr/>
            </p:nvCxnSpPr>
            <p:spPr>
              <a:xfrm>
                <a:off x="4149307" y="4184904"/>
                <a:ext cx="1350035" cy="261668"/>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F884BE3A-28AC-53A6-DF9E-EEBD820E4400}"/>
                  </a:ext>
                </a:extLst>
              </p:cNvPr>
              <p:cNvCxnSpPr>
                <a:cxnSpLocks/>
                <a:stCxn id="27" idx="0"/>
                <a:endCxn id="31" idx="2"/>
              </p:cNvCxnSpPr>
              <p:nvPr/>
            </p:nvCxnSpPr>
            <p:spPr>
              <a:xfrm flipV="1">
                <a:off x="3203276" y="3429000"/>
                <a:ext cx="1350035" cy="341836"/>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77116937-6AE7-544A-CC14-82F747400C09}"/>
                  </a:ext>
                </a:extLst>
              </p:cNvPr>
              <p:cNvCxnSpPr>
                <a:cxnSpLocks/>
                <a:stCxn id="31" idx="2"/>
                <a:endCxn id="28" idx="0"/>
              </p:cNvCxnSpPr>
              <p:nvPr/>
            </p:nvCxnSpPr>
            <p:spPr>
              <a:xfrm flipH="1">
                <a:off x="4149307" y="3429000"/>
                <a:ext cx="404004" cy="341836"/>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CF6C4D9F-AAC9-D67D-9D63-598E5CC5E48F}"/>
                  </a:ext>
                </a:extLst>
              </p:cNvPr>
              <p:cNvCxnSpPr>
                <a:cxnSpLocks/>
                <a:stCxn id="32" idx="2"/>
                <a:endCxn id="29" idx="0"/>
              </p:cNvCxnSpPr>
              <p:nvPr/>
            </p:nvCxnSpPr>
            <p:spPr>
              <a:xfrm>
                <a:off x="5499342" y="3429000"/>
                <a:ext cx="404004" cy="34183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518FC664-A7A3-238E-6813-FDAB1BFCFB38}"/>
                  </a:ext>
                </a:extLst>
              </p:cNvPr>
              <p:cNvCxnSpPr>
                <a:cxnSpLocks/>
                <a:stCxn id="32" idx="2"/>
                <a:endCxn id="30" idx="0"/>
              </p:cNvCxnSpPr>
              <p:nvPr/>
            </p:nvCxnSpPr>
            <p:spPr>
              <a:xfrm>
                <a:off x="5499342" y="3429000"/>
                <a:ext cx="1350035" cy="34183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DA86ED57-746B-6BF3-434B-C5FA51BCFB99}"/>
                  </a:ext>
                </a:extLst>
              </p:cNvPr>
              <p:cNvCxnSpPr>
                <a:cxnSpLocks/>
                <a:stCxn id="29" idx="2"/>
                <a:endCxn id="26" idx="0"/>
              </p:cNvCxnSpPr>
              <p:nvPr/>
            </p:nvCxnSpPr>
            <p:spPr>
              <a:xfrm>
                <a:off x="5903346" y="4184904"/>
                <a:ext cx="542027" cy="261668"/>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0171294A-E9C2-3FC1-2A27-E81D8C2422B2}"/>
                  </a:ext>
                </a:extLst>
              </p:cNvPr>
              <p:cNvCxnSpPr>
                <a:cxnSpLocks/>
                <a:stCxn id="30" idx="2"/>
                <a:endCxn id="21" idx="0"/>
              </p:cNvCxnSpPr>
              <p:nvPr/>
            </p:nvCxnSpPr>
            <p:spPr>
              <a:xfrm>
                <a:off x="6849377" y="4184904"/>
                <a:ext cx="542027" cy="261668"/>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0DCEC0DE-05BB-FE0E-2B1E-2F19A93D09EA}"/>
                  </a:ext>
                </a:extLst>
              </p:cNvPr>
              <p:cNvCxnSpPr>
                <a:cxnSpLocks/>
                <a:stCxn id="33" idx="2"/>
                <a:endCxn id="31" idx="0"/>
              </p:cNvCxnSpPr>
              <p:nvPr/>
            </p:nvCxnSpPr>
            <p:spPr>
              <a:xfrm flipH="1">
                <a:off x="4553311" y="2592612"/>
                <a:ext cx="480201" cy="422320"/>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24B432DE-D586-4FA7-0C0C-8C3B7ABD2058}"/>
                  </a:ext>
                </a:extLst>
              </p:cNvPr>
              <p:cNvCxnSpPr>
                <a:cxnSpLocks/>
                <a:stCxn id="33" idx="2"/>
                <a:endCxn id="32" idx="0"/>
              </p:cNvCxnSpPr>
              <p:nvPr/>
            </p:nvCxnSpPr>
            <p:spPr>
              <a:xfrm>
                <a:off x="5033512" y="2592612"/>
                <a:ext cx="465830" cy="422320"/>
              </a:xfrm>
              <a:prstGeom prst="line">
                <a:avLst/>
              </a:prstGeom>
            </p:spPr>
            <p:style>
              <a:lnRef idx="1">
                <a:schemeClr val="dk1"/>
              </a:lnRef>
              <a:fillRef idx="0">
                <a:schemeClr val="dk1"/>
              </a:fillRef>
              <a:effectRef idx="0">
                <a:schemeClr val="dk1"/>
              </a:effectRef>
              <a:fontRef idx="minor">
                <a:schemeClr val="tx1"/>
              </a:fontRef>
            </p:style>
          </p:cxnSp>
          <p:sp>
            <p:nvSpPr>
              <p:cNvPr id="46" name="Rectangle: Rounded Corners 45">
                <a:extLst>
                  <a:ext uri="{FF2B5EF4-FFF2-40B4-BE49-F238E27FC236}">
                    <a16:creationId xmlns:a16="http://schemas.microsoft.com/office/drawing/2014/main" id="{5F698A8B-0650-F175-69E0-3EA7C9AC5205}"/>
                  </a:ext>
                </a:extLst>
              </p:cNvPr>
              <p:cNvSpPr/>
              <p:nvPr/>
            </p:nvSpPr>
            <p:spPr>
              <a:xfrm>
                <a:off x="2030083" y="2087592"/>
                <a:ext cx="5894717" cy="302499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00" dirty="0"/>
              </a:p>
            </p:txBody>
          </p:sp>
        </p:grpSp>
      </p:grpSp>
    </p:spTree>
    <p:extLst>
      <p:ext uri="{BB962C8B-B14F-4D97-AF65-F5344CB8AC3E}">
        <p14:creationId xmlns:p14="http://schemas.microsoft.com/office/powerpoint/2010/main" val="42169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44BB-666E-039B-0585-DAF3BE865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055B9-0DA5-7B0A-1689-FCBCCFCE6025}"/>
              </a:ext>
            </a:extLst>
          </p:cNvPr>
          <p:cNvSpPr>
            <a:spLocks noGrp="1"/>
          </p:cNvSpPr>
          <p:nvPr>
            <p:ph type="title"/>
          </p:nvPr>
        </p:nvSpPr>
        <p:spPr/>
        <p:txBody>
          <a:bodyPr/>
          <a:lstStyle/>
          <a:p>
            <a:r>
              <a:rPr lang="en-IN" b="1" dirty="0"/>
              <a:t>Resource Group</a:t>
            </a:r>
            <a:r>
              <a:rPr lang="en-IN" dirty="0"/>
              <a:t> </a:t>
            </a:r>
          </a:p>
        </p:txBody>
      </p:sp>
      <p:sp>
        <p:nvSpPr>
          <p:cNvPr id="4" name="TextBox 3">
            <a:extLst>
              <a:ext uri="{FF2B5EF4-FFF2-40B4-BE49-F238E27FC236}">
                <a16:creationId xmlns:a16="http://schemas.microsoft.com/office/drawing/2014/main" id="{B65834FF-C783-F4CA-3FE9-12C1C984410F}"/>
              </a:ext>
            </a:extLst>
          </p:cNvPr>
          <p:cNvSpPr txBox="1"/>
          <p:nvPr/>
        </p:nvSpPr>
        <p:spPr>
          <a:xfrm>
            <a:off x="379562" y="3710124"/>
            <a:ext cx="2817964" cy="1191816"/>
          </a:xfrm>
          <a:prstGeom prst="roundRect">
            <a:avLst/>
          </a:prstGeom>
          <a:noFill/>
          <a:ln>
            <a:solidFill>
              <a:schemeClr val="tx1">
                <a:lumMod val="75000"/>
              </a:schemeClr>
            </a:solidFill>
          </a:ln>
        </p:spPr>
        <p:txBody>
          <a:bodyPr wrap="square" rtlCol="0" anchor="ctr">
            <a:spAutoFit/>
          </a:bodyPr>
          <a:lstStyle/>
          <a:p>
            <a:r>
              <a:rPr lang="en-IN" sz="1600" dirty="0"/>
              <a:t>A </a:t>
            </a:r>
            <a:r>
              <a:rPr lang="en-IN" sz="1600" b="1" dirty="0"/>
              <a:t>Resource Group</a:t>
            </a:r>
            <a:r>
              <a:rPr lang="en-IN" sz="1600" dirty="0"/>
              <a:t> in Azure is a </a:t>
            </a:r>
            <a:r>
              <a:rPr lang="en-IN" sz="1600" b="1" dirty="0"/>
              <a:t>logical container </a:t>
            </a:r>
            <a:r>
              <a:rPr lang="en-IN" sz="1600" dirty="0"/>
              <a:t>that holds related resources for an Azure solution.</a:t>
            </a:r>
          </a:p>
        </p:txBody>
      </p:sp>
      <p:sp>
        <p:nvSpPr>
          <p:cNvPr id="5" name="TextBox 4">
            <a:extLst>
              <a:ext uri="{FF2B5EF4-FFF2-40B4-BE49-F238E27FC236}">
                <a16:creationId xmlns:a16="http://schemas.microsoft.com/office/drawing/2014/main" id="{8D40F400-764F-ECEE-0908-885DBDC470A9}"/>
              </a:ext>
            </a:extLst>
          </p:cNvPr>
          <p:cNvSpPr txBox="1"/>
          <p:nvPr/>
        </p:nvSpPr>
        <p:spPr>
          <a:xfrm>
            <a:off x="3516702" y="2041585"/>
            <a:ext cx="8174966" cy="3439239"/>
          </a:xfrm>
          <a:prstGeom prst="roundRect">
            <a:avLst/>
          </a:prstGeom>
          <a:noFill/>
          <a:ln>
            <a:solidFill>
              <a:schemeClr val="tx1">
                <a:lumMod val="75000"/>
              </a:schemeClr>
            </a:solidFill>
          </a:ln>
        </p:spPr>
        <p:txBody>
          <a:bodyPr wrap="square" rtlCol="0">
            <a:spAutoFit/>
          </a:bodyPr>
          <a:lstStyle/>
          <a:p>
            <a:pPr lvl="0"/>
            <a:r>
              <a:rPr lang="en-IN" sz="1400" b="1" dirty="0"/>
              <a:t>Key Points</a:t>
            </a:r>
          </a:p>
          <a:p>
            <a:pPr lvl="0"/>
            <a:endParaRPr lang="en-IN" sz="1400" b="1" dirty="0"/>
          </a:p>
          <a:p>
            <a:pPr lvl="0"/>
            <a:endParaRPr lang="en-IN" sz="1400" b="1" dirty="0"/>
          </a:p>
          <a:p>
            <a:pPr marL="285750" lvl="0" indent="-285750">
              <a:buFont typeface="Arial" panose="020B0604020202020204" pitchFamily="34" charset="0"/>
              <a:buChar char="•"/>
            </a:pPr>
            <a:r>
              <a:rPr lang="en-IN" sz="1400" b="1" dirty="0"/>
              <a:t>Logical Grouping</a:t>
            </a:r>
            <a:r>
              <a:rPr lang="en-IN" sz="1400" dirty="0"/>
              <a:t>: Resource groups help organize and manage all the resources (like virtual machines, databases, and more) that make up an application or service. Think of it as a folder on your computer where you keep all related files together.</a:t>
            </a:r>
          </a:p>
          <a:p>
            <a:pPr marL="285750" lvl="0" indent="-285750">
              <a:buFont typeface="Arial" panose="020B0604020202020204" pitchFamily="34" charset="0"/>
              <a:buChar char="•"/>
            </a:pPr>
            <a:r>
              <a:rPr lang="en-IN" sz="1400" b="1" dirty="0"/>
              <a:t>Unified Management</a:t>
            </a:r>
            <a:r>
              <a:rPr lang="en-IN" sz="1400" dirty="0"/>
              <a:t>: You can manage and deploy multiple resources together. For example, if you have a web app, a database, and storage, you can manage them all within one resource group.</a:t>
            </a:r>
          </a:p>
          <a:p>
            <a:pPr marL="285750" lvl="0" indent="-285750">
              <a:buFont typeface="Arial" panose="020B0604020202020204" pitchFamily="34" charset="0"/>
              <a:buChar char="•"/>
            </a:pPr>
            <a:r>
              <a:rPr lang="en-IN" sz="1400" b="1" dirty="0"/>
              <a:t>Lifecycle Management</a:t>
            </a:r>
            <a:r>
              <a:rPr lang="en-IN" sz="1400" dirty="0"/>
              <a:t>: Resources in the same group can be managed and deleted as a single entity. This simplifies the lifecycle management of your applications.</a:t>
            </a:r>
          </a:p>
          <a:p>
            <a:pPr marL="285750" lvl="0" indent="-285750">
              <a:buFont typeface="Arial" panose="020B0604020202020204" pitchFamily="34" charset="0"/>
              <a:buChar char="•"/>
            </a:pPr>
            <a:r>
              <a:rPr lang="en-IN" sz="1400" b="1" dirty="0"/>
              <a:t>Access Control</a:t>
            </a:r>
            <a:r>
              <a:rPr lang="en-IN" sz="1400" dirty="0"/>
              <a:t>: You can apply role-based access control (RBAC) to the resource group, making it easier to manage who has permissions to create, manage, or delete resources within that group.</a:t>
            </a:r>
          </a:p>
          <a:p>
            <a:pPr marL="285750" indent="-285750">
              <a:buFont typeface="Arial" panose="020B0604020202020204" pitchFamily="34" charset="0"/>
              <a:buChar char="•"/>
            </a:pPr>
            <a:r>
              <a:rPr lang="en-IN" sz="1400" b="1" dirty="0"/>
              <a:t>Billing and Monitoring</a:t>
            </a:r>
            <a:r>
              <a:rPr lang="en-IN" sz="1400" dirty="0"/>
              <a:t>: Resource groups provide a way to view billing and monitor the usage of the resources within the group. This helps in tracking costs and usage patterns effectively</a:t>
            </a:r>
          </a:p>
        </p:txBody>
      </p:sp>
      <p:cxnSp>
        <p:nvCxnSpPr>
          <p:cNvPr id="10" name="Straight Connector 9">
            <a:extLst>
              <a:ext uri="{FF2B5EF4-FFF2-40B4-BE49-F238E27FC236}">
                <a16:creationId xmlns:a16="http://schemas.microsoft.com/office/drawing/2014/main" id="{546AEC48-C578-1FE2-6B7F-A87E0E52B87B}"/>
              </a:ext>
            </a:extLst>
          </p:cNvPr>
          <p:cNvCxnSpPr/>
          <p:nvPr/>
        </p:nvCxnSpPr>
        <p:spPr>
          <a:xfrm>
            <a:off x="3548332" y="2835215"/>
            <a:ext cx="8149087"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46819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B39E3-506C-9389-0C6E-92829618F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222E9-5D6C-690A-CAD8-A4D4A3889AB6}"/>
              </a:ext>
            </a:extLst>
          </p:cNvPr>
          <p:cNvSpPr>
            <a:spLocks noGrp="1"/>
          </p:cNvSpPr>
          <p:nvPr>
            <p:ph type="title"/>
          </p:nvPr>
        </p:nvSpPr>
        <p:spPr/>
        <p:txBody>
          <a:bodyPr/>
          <a:lstStyle/>
          <a:p>
            <a:r>
              <a:rPr lang="en-IN" b="1" dirty="0"/>
              <a:t>Linked Services</a:t>
            </a:r>
          </a:p>
        </p:txBody>
      </p:sp>
      <p:sp>
        <p:nvSpPr>
          <p:cNvPr id="4" name="TextBox 3">
            <a:extLst>
              <a:ext uri="{FF2B5EF4-FFF2-40B4-BE49-F238E27FC236}">
                <a16:creationId xmlns:a16="http://schemas.microsoft.com/office/drawing/2014/main" id="{DD28929D-9449-70A3-39B5-FBFF9922C9C3}"/>
              </a:ext>
            </a:extLst>
          </p:cNvPr>
          <p:cNvSpPr txBox="1"/>
          <p:nvPr/>
        </p:nvSpPr>
        <p:spPr>
          <a:xfrm>
            <a:off x="379562" y="2837724"/>
            <a:ext cx="2817964" cy="2936617"/>
          </a:xfrm>
          <a:prstGeom prst="roundRect">
            <a:avLst/>
          </a:prstGeom>
          <a:noFill/>
          <a:ln>
            <a:solidFill>
              <a:schemeClr val="tx1">
                <a:lumMod val="75000"/>
              </a:schemeClr>
            </a:solidFill>
          </a:ln>
        </p:spPr>
        <p:txBody>
          <a:bodyPr wrap="square" rtlCol="0" anchor="ctr">
            <a:spAutoFit/>
          </a:bodyPr>
          <a:lstStyle/>
          <a:p>
            <a:r>
              <a:rPr lang="en-IN" sz="1400" dirty="0"/>
              <a:t>In Azure Data Factory, a </a:t>
            </a:r>
            <a:r>
              <a:rPr lang="en-IN" sz="1400" b="1" dirty="0"/>
              <a:t>Linked Service is a connection string that defines the connection information needed for Data Factory to connect to external data sources</a:t>
            </a:r>
            <a:r>
              <a:rPr lang="en-IN" sz="1400" dirty="0"/>
              <a:t>. Think of it as a bridge that allows Azure Data Factory to interact with your various data stores, compute services, or other resources. Here are some key aspects of Linked Services</a:t>
            </a:r>
          </a:p>
        </p:txBody>
      </p:sp>
      <p:sp>
        <p:nvSpPr>
          <p:cNvPr id="5" name="TextBox 4">
            <a:extLst>
              <a:ext uri="{FF2B5EF4-FFF2-40B4-BE49-F238E27FC236}">
                <a16:creationId xmlns:a16="http://schemas.microsoft.com/office/drawing/2014/main" id="{796FC52F-80CB-52A5-3256-F1DFCC7D0AFA}"/>
              </a:ext>
            </a:extLst>
          </p:cNvPr>
          <p:cNvSpPr txBox="1"/>
          <p:nvPr/>
        </p:nvSpPr>
        <p:spPr>
          <a:xfrm>
            <a:off x="3318293" y="2041585"/>
            <a:ext cx="8637917" cy="4835366"/>
          </a:xfrm>
          <a:prstGeom prst="roundRect">
            <a:avLst/>
          </a:prstGeom>
          <a:noFill/>
          <a:ln>
            <a:solidFill>
              <a:schemeClr val="tx1">
                <a:lumMod val="75000"/>
              </a:schemeClr>
            </a:solidFill>
          </a:ln>
        </p:spPr>
        <p:txBody>
          <a:bodyPr wrap="square" rtlCol="0">
            <a:spAutoFit/>
          </a:bodyPr>
          <a:lstStyle/>
          <a:p>
            <a:pPr lvl="0"/>
            <a:r>
              <a:rPr lang="en-IN" b="1" dirty="0"/>
              <a:t>Key Points</a:t>
            </a:r>
          </a:p>
          <a:p>
            <a:pPr lvl="0"/>
            <a:endParaRPr lang="en-IN" sz="1100" b="1" dirty="0"/>
          </a:p>
          <a:p>
            <a:pPr lvl="0"/>
            <a:endParaRPr lang="en-IN" sz="1100" b="1" dirty="0"/>
          </a:p>
          <a:p>
            <a:pPr marL="285750" lvl="0" indent="-285750">
              <a:buFont typeface="Arial" panose="020B0604020202020204" pitchFamily="34" charset="0"/>
              <a:buChar char="•"/>
            </a:pPr>
            <a:r>
              <a:rPr lang="en-IN" sz="1400" b="1" dirty="0"/>
              <a:t>Connection Information</a:t>
            </a:r>
            <a:r>
              <a:rPr lang="en-IN" sz="1400" dirty="0"/>
              <a:t>:</a:t>
            </a:r>
          </a:p>
          <a:p>
            <a:pPr lvl="1"/>
            <a:r>
              <a:rPr lang="en-IN" sz="1400" dirty="0"/>
              <a:t>A linked service contains connection strings, authentication credentials, and other configuration settings necessary to connect to your data sources or compute environments.</a:t>
            </a:r>
          </a:p>
          <a:p>
            <a:pPr marL="285750" lvl="0" indent="-285750">
              <a:buFont typeface="Arial" panose="020B0604020202020204" pitchFamily="34" charset="0"/>
              <a:buChar char="•"/>
            </a:pPr>
            <a:r>
              <a:rPr lang="en-IN" sz="1400" b="1" dirty="0"/>
              <a:t>Types of Data Stores</a:t>
            </a:r>
            <a:r>
              <a:rPr lang="en-IN" sz="1400" dirty="0"/>
              <a:t>:</a:t>
            </a:r>
          </a:p>
          <a:p>
            <a:pPr marL="742950" lvl="1" indent="-285750">
              <a:buFont typeface="Arial" panose="020B0604020202020204" pitchFamily="34" charset="0"/>
              <a:buChar char="•"/>
            </a:pPr>
            <a:r>
              <a:rPr lang="en-IN" sz="1400" b="1" dirty="0"/>
              <a:t>Storage Services</a:t>
            </a:r>
            <a:r>
              <a:rPr lang="en-IN" sz="1400" dirty="0"/>
              <a:t>: Connect to Azure Blob Storage, Azure Data Lake Storage, and others.</a:t>
            </a:r>
          </a:p>
          <a:p>
            <a:pPr marL="742950" lvl="1" indent="-285750">
              <a:buFont typeface="Arial" panose="020B0604020202020204" pitchFamily="34" charset="0"/>
              <a:buChar char="•"/>
            </a:pPr>
            <a:r>
              <a:rPr lang="en-IN" sz="1400" b="1" dirty="0"/>
              <a:t>Databases</a:t>
            </a:r>
            <a:r>
              <a:rPr lang="en-IN" sz="1400" dirty="0"/>
              <a:t>: Connect to SQL Server, Azure SQL Database, PostgreSQL, MySQL, etc.</a:t>
            </a:r>
          </a:p>
          <a:p>
            <a:pPr marL="742950" lvl="1" indent="-285750">
              <a:buFont typeface="Arial" panose="020B0604020202020204" pitchFamily="34" charset="0"/>
              <a:buChar char="•"/>
            </a:pPr>
            <a:r>
              <a:rPr lang="en-IN" sz="1400" b="1" dirty="0"/>
              <a:t>Compute Services</a:t>
            </a:r>
            <a:r>
              <a:rPr lang="en-IN" sz="1400" dirty="0"/>
              <a:t>: Connect to Azure HDInsight, Azure Databricks, and more.</a:t>
            </a:r>
          </a:p>
          <a:p>
            <a:pPr marL="285750" lvl="0" indent="-285750">
              <a:buFont typeface="Arial" panose="020B0604020202020204" pitchFamily="34" charset="0"/>
              <a:buChar char="•"/>
            </a:pPr>
            <a:r>
              <a:rPr lang="en-IN" sz="1400" b="1" dirty="0"/>
              <a:t>Configuration</a:t>
            </a:r>
            <a:r>
              <a:rPr lang="en-IN" sz="1400" dirty="0"/>
              <a:t>:</a:t>
            </a:r>
          </a:p>
          <a:p>
            <a:pPr lvl="1"/>
            <a:r>
              <a:rPr lang="en-IN" sz="1400" dirty="0"/>
              <a:t>Each linked service is configured based on the type of service it connects to. For example, an Azure Blob Storage linked service will require an account name and key, while a SQL Database linked service will need a connection string and credentials.</a:t>
            </a:r>
          </a:p>
          <a:p>
            <a:pPr marL="285750" lvl="0" indent="-285750">
              <a:buFont typeface="Arial" panose="020B0604020202020204" pitchFamily="34" charset="0"/>
              <a:buChar char="•"/>
            </a:pPr>
            <a:r>
              <a:rPr lang="en-IN" sz="1400" b="1" dirty="0"/>
              <a:t>Security</a:t>
            </a:r>
            <a:r>
              <a:rPr lang="en-IN" sz="1400" dirty="0"/>
              <a:t>:</a:t>
            </a:r>
          </a:p>
          <a:p>
            <a:pPr lvl="1"/>
            <a:r>
              <a:rPr lang="en-IN" sz="1400" dirty="0"/>
              <a:t>Linked services securely store credentials in Azure Key Vault or directly in the Data Factory configuration, ensuring that sensitive information is protected.</a:t>
            </a:r>
          </a:p>
          <a:p>
            <a:pPr marL="285750" lvl="0" indent="-285750">
              <a:buFont typeface="Arial" panose="020B0604020202020204" pitchFamily="34" charset="0"/>
              <a:buChar char="•"/>
            </a:pPr>
            <a:r>
              <a:rPr lang="en-IN" sz="1400" b="1" dirty="0"/>
              <a:t>Reusability</a:t>
            </a:r>
            <a:r>
              <a:rPr lang="en-IN" sz="1400" dirty="0"/>
              <a:t>:</a:t>
            </a:r>
          </a:p>
          <a:p>
            <a:pPr lvl="1"/>
            <a:r>
              <a:rPr lang="en-IN" sz="1400" dirty="0"/>
              <a:t>Linked services can be reused across multiple pipelines, activities, and datasets within Azure Data Factory, promoting efficient management and consistency.</a:t>
            </a:r>
          </a:p>
        </p:txBody>
      </p:sp>
      <p:cxnSp>
        <p:nvCxnSpPr>
          <p:cNvPr id="10" name="Straight Connector 9">
            <a:extLst>
              <a:ext uri="{FF2B5EF4-FFF2-40B4-BE49-F238E27FC236}">
                <a16:creationId xmlns:a16="http://schemas.microsoft.com/office/drawing/2014/main" id="{22650D6B-39BD-A63A-F91B-267B662FC390}"/>
              </a:ext>
            </a:extLst>
          </p:cNvPr>
          <p:cNvCxnSpPr/>
          <p:nvPr/>
        </p:nvCxnSpPr>
        <p:spPr>
          <a:xfrm>
            <a:off x="3548332" y="2835215"/>
            <a:ext cx="8149087"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8968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9EE39-3DAE-4A13-745E-192010570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EC991-F61F-2720-D05A-636D9AF0C7D6}"/>
              </a:ext>
            </a:extLst>
          </p:cNvPr>
          <p:cNvSpPr>
            <a:spLocks noGrp="1"/>
          </p:cNvSpPr>
          <p:nvPr>
            <p:ph type="title"/>
          </p:nvPr>
        </p:nvSpPr>
        <p:spPr/>
        <p:txBody>
          <a:bodyPr/>
          <a:lstStyle/>
          <a:p>
            <a:r>
              <a:rPr lang="en-IN" b="1" dirty="0"/>
              <a:t>Integration Runtime (IR)</a:t>
            </a:r>
          </a:p>
        </p:txBody>
      </p:sp>
      <p:sp>
        <p:nvSpPr>
          <p:cNvPr id="4" name="TextBox 3">
            <a:extLst>
              <a:ext uri="{FF2B5EF4-FFF2-40B4-BE49-F238E27FC236}">
                <a16:creationId xmlns:a16="http://schemas.microsoft.com/office/drawing/2014/main" id="{51A545E8-669F-7697-C2B4-621DD7C487A1}"/>
              </a:ext>
            </a:extLst>
          </p:cNvPr>
          <p:cNvSpPr txBox="1"/>
          <p:nvPr/>
        </p:nvSpPr>
        <p:spPr>
          <a:xfrm>
            <a:off x="155275" y="1941810"/>
            <a:ext cx="5992483" cy="987504"/>
          </a:xfrm>
          <a:prstGeom prst="roundRect">
            <a:avLst/>
          </a:prstGeom>
          <a:noFill/>
          <a:ln>
            <a:solidFill>
              <a:schemeClr val="tx1">
                <a:lumMod val="75000"/>
              </a:schemeClr>
            </a:solidFill>
          </a:ln>
        </p:spPr>
        <p:txBody>
          <a:bodyPr wrap="square" rtlCol="0" anchor="ctr">
            <a:spAutoFit/>
          </a:bodyPr>
          <a:lstStyle/>
          <a:p>
            <a:r>
              <a:rPr lang="en-IN" sz="1300" dirty="0"/>
              <a:t>An </a:t>
            </a:r>
            <a:r>
              <a:rPr lang="en-IN" sz="1300" b="1" dirty="0"/>
              <a:t>Integration Runtime (IR)</a:t>
            </a:r>
            <a:r>
              <a:rPr lang="en-IN" sz="1300" dirty="0"/>
              <a:t> in Azure Data Factory is the </a:t>
            </a:r>
            <a:r>
              <a:rPr lang="en-IN" sz="1300" b="1" dirty="0"/>
              <a:t>compute infrastructure used by Data Factory to provide data integration capabilities across different network environments</a:t>
            </a:r>
            <a:r>
              <a:rPr lang="en-IN" sz="1300" dirty="0"/>
              <a:t>. It acts as a bridge for data movement, transformation, and activity dispatching.</a:t>
            </a:r>
          </a:p>
        </p:txBody>
      </p:sp>
      <p:grpSp>
        <p:nvGrpSpPr>
          <p:cNvPr id="8" name="Group 7">
            <a:extLst>
              <a:ext uri="{FF2B5EF4-FFF2-40B4-BE49-F238E27FC236}">
                <a16:creationId xmlns:a16="http://schemas.microsoft.com/office/drawing/2014/main" id="{6C0C78EF-6887-1013-2D77-586368BD4BEA}"/>
              </a:ext>
            </a:extLst>
          </p:cNvPr>
          <p:cNvGrpSpPr/>
          <p:nvPr/>
        </p:nvGrpSpPr>
        <p:grpSpPr>
          <a:xfrm>
            <a:off x="6395049" y="2041585"/>
            <a:ext cx="5561161" cy="2094190"/>
            <a:chOff x="5501698" y="2041585"/>
            <a:chExt cx="6454512" cy="2094190"/>
          </a:xfrm>
        </p:grpSpPr>
        <p:sp>
          <p:nvSpPr>
            <p:cNvPr id="5" name="TextBox 4">
              <a:extLst>
                <a:ext uri="{FF2B5EF4-FFF2-40B4-BE49-F238E27FC236}">
                  <a16:creationId xmlns:a16="http://schemas.microsoft.com/office/drawing/2014/main" id="{FB845BE9-6FA9-86E7-CFA3-768A38F33103}"/>
                </a:ext>
              </a:extLst>
            </p:cNvPr>
            <p:cNvSpPr txBox="1"/>
            <p:nvPr/>
          </p:nvSpPr>
          <p:spPr>
            <a:xfrm>
              <a:off x="5501698" y="2041585"/>
              <a:ext cx="6454512" cy="2094190"/>
            </a:xfrm>
            <a:prstGeom prst="roundRect">
              <a:avLst/>
            </a:prstGeom>
            <a:noFill/>
            <a:ln>
              <a:solidFill>
                <a:schemeClr val="tx1">
                  <a:lumMod val="75000"/>
                </a:schemeClr>
              </a:solidFill>
            </a:ln>
          </p:spPr>
          <p:txBody>
            <a:bodyPr wrap="square" rtlCol="0">
              <a:spAutoFit/>
            </a:bodyPr>
            <a:lstStyle/>
            <a:p>
              <a:pPr lvl="0"/>
              <a:r>
                <a:rPr lang="en-IN" sz="1300" b="1" dirty="0"/>
                <a:t>Key Functionalities</a:t>
              </a:r>
            </a:p>
            <a:p>
              <a:pPr lvl="0"/>
              <a:endParaRPr lang="en-IN" sz="1300" b="1" dirty="0"/>
            </a:p>
            <a:p>
              <a:pPr marL="285750" lvl="0" indent="-285750">
                <a:buFont typeface="Arial" panose="020B0604020202020204" pitchFamily="34" charset="0"/>
                <a:buChar char="•"/>
              </a:pPr>
              <a:r>
                <a:rPr lang="en-IN" sz="1300" b="1" dirty="0"/>
                <a:t>Data Movement</a:t>
              </a:r>
              <a:r>
                <a:rPr lang="en-IN" sz="1300" dirty="0"/>
                <a:t>: Moves data between different data stores, which can be on-premises or in the cloud.</a:t>
              </a:r>
            </a:p>
            <a:p>
              <a:pPr marL="285750" lvl="0" indent="-285750">
                <a:buFont typeface="Arial" panose="020B0604020202020204" pitchFamily="34" charset="0"/>
                <a:buChar char="•"/>
              </a:pPr>
              <a:r>
                <a:rPr lang="en-IN" sz="1300" b="1" dirty="0"/>
                <a:t>Data Transformation</a:t>
              </a:r>
              <a:r>
                <a:rPr lang="en-IN" sz="1300" dirty="0"/>
                <a:t>: Performs data transformations and processes data flows, leveraging Azure Data Factory's capabilities or custom transformations.</a:t>
              </a:r>
            </a:p>
            <a:p>
              <a:pPr marL="285750" lvl="0" indent="-285750">
                <a:buFont typeface="Arial" panose="020B0604020202020204" pitchFamily="34" charset="0"/>
                <a:buChar char="•"/>
              </a:pPr>
              <a:r>
                <a:rPr lang="en-IN" sz="1300" b="1" dirty="0"/>
                <a:t>Activity Dispatch</a:t>
              </a:r>
              <a:r>
                <a:rPr lang="en-IN" sz="1300" dirty="0"/>
                <a:t>: Executes activities within a pipeline, such as data copying, transformations, and control flow operations.</a:t>
              </a:r>
            </a:p>
          </p:txBody>
        </p:sp>
        <p:cxnSp>
          <p:nvCxnSpPr>
            <p:cNvPr id="10" name="Straight Connector 9">
              <a:extLst>
                <a:ext uri="{FF2B5EF4-FFF2-40B4-BE49-F238E27FC236}">
                  <a16:creationId xmlns:a16="http://schemas.microsoft.com/office/drawing/2014/main" id="{C361FE2C-CDB6-E2BF-12FF-B90BE0020B28}"/>
                </a:ext>
              </a:extLst>
            </p:cNvPr>
            <p:cNvCxnSpPr>
              <a:cxnSpLocks/>
            </p:cNvCxnSpPr>
            <p:nvPr/>
          </p:nvCxnSpPr>
          <p:spPr>
            <a:xfrm flipV="1">
              <a:off x="5501698" y="2507412"/>
              <a:ext cx="6454512" cy="48876"/>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9" name="Group 8">
            <a:extLst>
              <a:ext uri="{FF2B5EF4-FFF2-40B4-BE49-F238E27FC236}">
                <a16:creationId xmlns:a16="http://schemas.microsoft.com/office/drawing/2014/main" id="{79A79489-4FA0-BA8F-9307-FA27ED1B40AF}"/>
              </a:ext>
            </a:extLst>
          </p:cNvPr>
          <p:cNvGrpSpPr/>
          <p:nvPr/>
        </p:nvGrpSpPr>
        <p:grpSpPr>
          <a:xfrm>
            <a:off x="6395048" y="4393727"/>
            <a:ext cx="5561161" cy="2094190"/>
            <a:chOff x="4813679" y="2041585"/>
            <a:chExt cx="7142531" cy="1957773"/>
          </a:xfrm>
        </p:grpSpPr>
        <p:sp>
          <p:nvSpPr>
            <p:cNvPr id="11" name="TextBox 10">
              <a:extLst>
                <a:ext uri="{FF2B5EF4-FFF2-40B4-BE49-F238E27FC236}">
                  <a16:creationId xmlns:a16="http://schemas.microsoft.com/office/drawing/2014/main" id="{FD6679A3-1FDB-21ED-6708-4AA1381D6B6C}"/>
                </a:ext>
              </a:extLst>
            </p:cNvPr>
            <p:cNvSpPr txBox="1"/>
            <p:nvPr/>
          </p:nvSpPr>
          <p:spPr>
            <a:xfrm>
              <a:off x="4813679" y="2041585"/>
              <a:ext cx="7142531" cy="1957773"/>
            </a:xfrm>
            <a:prstGeom prst="roundRect">
              <a:avLst/>
            </a:prstGeom>
            <a:noFill/>
            <a:ln>
              <a:solidFill>
                <a:schemeClr val="tx1">
                  <a:lumMod val="75000"/>
                </a:schemeClr>
              </a:solidFill>
            </a:ln>
          </p:spPr>
          <p:txBody>
            <a:bodyPr wrap="square" rtlCol="0">
              <a:spAutoFit/>
            </a:bodyPr>
            <a:lstStyle/>
            <a:p>
              <a:r>
                <a:rPr lang="en-IN" sz="1300" b="1" dirty="0"/>
                <a:t>Choosing the Right Integration Runtime</a:t>
              </a:r>
              <a:endParaRPr lang="en-IN" sz="1300" dirty="0"/>
            </a:p>
            <a:p>
              <a:pPr lvl="0"/>
              <a:endParaRPr lang="en-IN" sz="1300" b="1" dirty="0"/>
            </a:p>
            <a:p>
              <a:pPr marL="285750" lvl="0" indent="-285750">
                <a:buFont typeface="Arial" panose="020B0604020202020204" pitchFamily="34" charset="0"/>
                <a:buChar char="•"/>
              </a:pPr>
              <a:r>
                <a:rPr lang="en-IN" sz="1300" b="1" dirty="0"/>
                <a:t>Azure IR</a:t>
              </a:r>
              <a:r>
                <a:rPr lang="en-IN" sz="1300" dirty="0"/>
                <a:t>: Best for cloud-native, scalable, and fully managed data integration scenarios.</a:t>
              </a:r>
            </a:p>
            <a:p>
              <a:pPr marL="285750" lvl="0" indent="-285750">
                <a:buFont typeface="Arial" panose="020B0604020202020204" pitchFamily="34" charset="0"/>
                <a:buChar char="•"/>
              </a:pPr>
              <a:r>
                <a:rPr lang="en-IN" sz="1300" b="1" dirty="0"/>
                <a:t>Self-Hosted IR</a:t>
              </a:r>
              <a:r>
                <a:rPr lang="en-IN" sz="1300" dirty="0"/>
                <a:t>: Suitable for hybrid scenarios requiring secure data movement between on-premises and cloud environments.</a:t>
              </a:r>
            </a:p>
            <a:p>
              <a:pPr marL="285750" lvl="0" indent="-285750">
                <a:buFont typeface="Arial" panose="020B0604020202020204" pitchFamily="34" charset="0"/>
                <a:buChar char="•"/>
              </a:pPr>
              <a:r>
                <a:rPr lang="en-IN" sz="1300" b="1" dirty="0"/>
                <a:t>Azure SSIS IR</a:t>
              </a:r>
              <a:r>
                <a:rPr lang="en-IN" sz="1300" dirty="0"/>
                <a:t>: Ideal for organizations looking to lift and shift SSIS packages to the cloud without rewriting them.</a:t>
              </a:r>
            </a:p>
            <a:p>
              <a:pPr lvl="1"/>
              <a:endParaRPr lang="en-IN" sz="1300" dirty="0"/>
            </a:p>
          </p:txBody>
        </p:sp>
        <p:cxnSp>
          <p:nvCxnSpPr>
            <p:cNvPr id="12" name="Straight Connector 11">
              <a:extLst>
                <a:ext uri="{FF2B5EF4-FFF2-40B4-BE49-F238E27FC236}">
                  <a16:creationId xmlns:a16="http://schemas.microsoft.com/office/drawing/2014/main" id="{BF5F4E9C-ABF2-0F75-5059-07A5C4D87BEC}"/>
                </a:ext>
              </a:extLst>
            </p:cNvPr>
            <p:cNvCxnSpPr>
              <a:cxnSpLocks/>
            </p:cNvCxnSpPr>
            <p:nvPr/>
          </p:nvCxnSpPr>
          <p:spPr>
            <a:xfrm>
              <a:off x="4813679" y="2507412"/>
              <a:ext cx="7142531" cy="0"/>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8" name="Group 17">
            <a:extLst>
              <a:ext uri="{FF2B5EF4-FFF2-40B4-BE49-F238E27FC236}">
                <a16:creationId xmlns:a16="http://schemas.microsoft.com/office/drawing/2014/main" id="{96904183-B31F-DA08-6724-5C48A6C79314}"/>
              </a:ext>
            </a:extLst>
          </p:cNvPr>
          <p:cNvGrpSpPr/>
          <p:nvPr/>
        </p:nvGrpSpPr>
        <p:grpSpPr>
          <a:xfrm>
            <a:off x="0" y="3039796"/>
            <a:ext cx="6222521" cy="3643551"/>
            <a:chOff x="0" y="3039796"/>
            <a:chExt cx="6222521" cy="3643551"/>
          </a:xfrm>
        </p:grpSpPr>
        <p:sp>
          <p:nvSpPr>
            <p:cNvPr id="6" name="TextBox 5">
              <a:extLst>
                <a:ext uri="{FF2B5EF4-FFF2-40B4-BE49-F238E27FC236}">
                  <a16:creationId xmlns:a16="http://schemas.microsoft.com/office/drawing/2014/main" id="{C676D9F1-D72A-63CC-49BE-AD220260EDD1}"/>
                </a:ext>
              </a:extLst>
            </p:cNvPr>
            <p:cNvSpPr txBox="1"/>
            <p:nvPr/>
          </p:nvSpPr>
          <p:spPr>
            <a:xfrm>
              <a:off x="0" y="3039796"/>
              <a:ext cx="6222521" cy="3643551"/>
            </a:xfrm>
            <a:prstGeom prst="roundRect">
              <a:avLst/>
            </a:prstGeom>
            <a:noFill/>
            <a:ln>
              <a:solidFill>
                <a:schemeClr val="tx1">
                  <a:lumMod val="75000"/>
                </a:schemeClr>
              </a:solidFill>
            </a:ln>
          </p:spPr>
          <p:txBody>
            <a:bodyPr wrap="square" rtlCol="0" anchor="ctr">
              <a:spAutoFit/>
            </a:bodyPr>
            <a:lstStyle/>
            <a:p>
              <a:r>
                <a:rPr lang="en-IN" sz="1600" b="1" dirty="0"/>
                <a:t>Key Types of Integration Runtime</a:t>
              </a:r>
              <a:endParaRPr lang="en-IN" sz="1200" b="1" dirty="0">
                <a:solidFill>
                  <a:srgbClr val="00B0F0"/>
                </a:solidFill>
              </a:endParaRPr>
            </a:p>
            <a:p>
              <a:pPr lvl="0"/>
              <a:endParaRPr lang="en-IN" sz="1400" b="1" dirty="0">
                <a:solidFill>
                  <a:srgbClr val="00B0F0"/>
                </a:solidFill>
              </a:endParaRPr>
            </a:p>
            <a:p>
              <a:pPr lvl="0"/>
              <a:endParaRPr lang="en-IN" sz="1400" b="1" dirty="0">
                <a:solidFill>
                  <a:srgbClr val="00B0F0"/>
                </a:solidFill>
              </a:endParaRPr>
            </a:p>
            <a:p>
              <a:pPr lvl="0"/>
              <a:r>
                <a:rPr lang="en-IN" sz="1400" b="1" dirty="0">
                  <a:solidFill>
                    <a:srgbClr val="00B0F0"/>
                  </a:solidFill>
                </a:rPr>
                <a:t>Azure Integration Runtime</a:t>
              </a:r>
              <a:r>
                <a:rPr lang="en-IN" sz="1400" dirty="0">
                  <a:solidFill>
                    <a:srgbClr val="00B0F0"/>
                  </a:solidFill>
                </a:rPr>
                <a:t>:</a:t>
              </a:r>
            </a:p>
            <a:p>
              <a:pPr marL="171450" lvl="0" indent="-171450">
                <a:buFont typeface="Arial" panose="020B0604020202020204" pitchFamily="34" charset="0"/>
                <a:buChar char="•"/>
              </a:pPr>
              <a:r>
                <a:rPr lang="en-IN" sz="1200" b="1" dirty="0"/>
                <a:t>Fully Managed</a:t>
              </a:r>
              <a:r>
                <a:rPr lang="en-IN" sz="1200" dirty="0"/>
                <a:t>: Hosted by Azure, this IR automatically scales out to meet your data integration needs.</a:t>
              </a:r>
            </a:p>
            <a:p>
              <a:pPr marL="171450" lvl="0" indent="-171450">
                <a:buFont typeface="Arial" panose="020B0604020202020204" pitchFamily="34" charset="0"/>
                <a:buChar char="•"/>
              </a:pPr>
              <a:r>
                <a:rPr lang="en-IN" sz="1200" b="1" dirty="0"/>
                <a:t>Cloud-to-Cloud</a:t>
              </a:r>
              <a:r>
                <a:rPr lang="en-IN" sz="1200" dirty="0"/>
                <a:t>: Ideal for cloud-to-cloud data movement and transformation scenarios.</a:t>
              </a:r>
            </a:p>
            <a:p>
              <a:pPr marL="171450" lvl="0" indent="-171450">
                <a:buFont typeface="Arial" panose="020B0604020202020204" pitchFamily="34" charset="0"/>
                <a:buChar char="•"/>
              </a:pPr>
              <a:r>
                <a:rPr lang="en-IN" sz="1200" b="1" dirty="0"/>
                <a:t>No Setup</a:t>
              </a:r>
              <a:r>
                <a:rPr lang="en-IN" sz="1200" dirty="0"/>
                <a:t>: Minimal configuration required, as Azure manages the resources.</a:t>
              </a:r>
            </a:p>
            <a:p>
              <a:pPr lvl="0"/>
              <a:r>
                <a:rPr lang="en-IN" sz="1400" b="1" dirty="0">
                  <a:solidFill>
                    <a:srgbClr val="00B0F0"/>
                  </a:solidFill>
                </a:rPr>
                <a:t>Self-Hosted Integration Runtime</a:t>
              </a:r>
              <a:r>
                <a:rPr lang="en-IN" sz="1400" dirty="0">
                  <a:solidFill>
                    <a:srgbClr val="00B0F0"/>
                  </a:solidFill>
                </a:rPr>
                <a:t>:</a:t>
              </a:r>
            </a:p>
            <a:p>
              <a:pPr marL="171450" lvl="0" indent="-171450">
                <a:buFont typeface="Arial" panose="020B0604020202020204" pitchFamily="34" charset="0"/>
                <a:buChar char="•"/>
              </a:pPr>
              <a:r>
                <a:rPr lang="en-IN" sz="1200" b="1" dirty="0"/>
                <a:t>User Managed</a:t>
              </a:r>
              <a:r>
                <a:rPr lang="en-IN" sz="1200" dirty="0"/>
                <a:t>: Installed on a virtual machine or an on-premises server.</a:t>
              </a:r>
            </a:p>
            <a:p>
              <a:pPr marL="171450" lvl="0" indent="-171450">
                <a:buFont typeface="Arial" panose="020B0604020202020204" pitchFamily="34" charset="0"/>
                <a:buChar char="•"/>
              </a:pPr>
              <a:r>
                <a:rPr lang="en-IN" sz="1200" b="1" dirty="0"/>
                <a:t>Hybrid Connectivity</a:t>
              </a:r>
              <a:r>
                <a:rPr lang="en-IN" sz="1200" dirty="0"/>
                <a:t>: Enables data movement between on-premises and cloud sources.</a:t>
              </a:r>
            </a:p>
            <a:p>
              <a:pPr marL="171450" lvl="0" indent="-171450">
                <a:buFont typeface="Arial" panose="020B0604020202020204" pitchFamily="34" charset="0"/>
                <a:buChar char="•"/>
              </a:pPr>
              <a:r>
                <a:rPr lang="en-IN" sz="1200" b="1" dirty="0"/>
                <a:t>Control</a:t>
              </a:r>
              <a:r>
                <a:rPr lang="en-IN" sz="1200" dirty="0"/>
                <a:t>: Provides more control over the environment and network configurations.</a:t>
              </a:r>
            </a:p>
            <a:p>
              <a:pPr lvl="0"/>
              <a:r>
                <a:rPr lang="en-IN" sz="1400" b="1" dirty="0">
                  <a:solidFill>
                    <a:srgbClr val="00B0F0"/>
                  </a:solidFill>
                </a:rPr>
                <a:t>Azure SSIS Integration Runtime</a:t>
              </a:r>
              <a:r>
                <a:rPr lang="en-IN" sz="1400" dirty="0">
                  <a:solidFill>
                    <a:srgbClr val="00B0F0"/>
                  </a:solidFill>
                </a:rPr>
                <a:t>:</a:t>
              </a:r>
            </a:p>
            <a:p>
              <a:pPr marL="171450" lvl="0" indent="-171450">
                <a:buFont typeface="Arial" panose="020B0604020202020204" pitchFamily="34" charset="0"/>
                <a:buChar char="•"/>
              </a:pPr>
              <a:r>
                <a:rPr lang="en-IN" sz="1200" b="1" dirty="0"/>
                <a:t>For SSIS Packages</a:t>
              </a:r>
              <a:r>
                <a:rPr lang="en-IN" sz="1200" dirty="0"/>
                <a:t>: Specifically designed to run SQL Server Integration Services (SSIS) packages in a managed environment.</a:t>
              </a:r>
            </a:p>
            <a:p>
              <a:pPr marL="171450" lvl="0" indent="-171450">
                <a:buFont typeface="Arial" panose="020B0604020202020204" pitchFamily="34" charset="0"/>
                <a:buChar char="•"/>
              </a:pPr>
              <a:r>
                <a:rPr lang="en-IN" sz="1200" b="1" dirty="0"/>
                <a:t>Hybrid Scenarios</a:t>
              </a:r>
              <a:r>
                <a:rPr lang="en-IN" sz="1200" dirty="0"/>
                <a:t>: Supports both on-premises and cloud data integration using SSIS.</a:t>
              </a:r>
            </a:p>
          </p:txBody>
        </p:sp>
        <p:cxnSp>
          <p:nvCxnSpPr>
            <p:cNvPr id="17" name="Straight Connector 16">
              <a:extLst>
                <a:ext uri="{FF2B5EF4-FFF2-40B4-BE49-F238E27FC236}">
                  <a16:creationId xmlns:a16="http://schemas.microsoft.com/office/drawing/2014/main" id="{3EB95F0B-D109-0035-4A36-0D531CF1513E}"/>
                </a:ext>
              </a:extLst>
            </p:cNvPr>
            <p:cNvCxnSpPr/>
            <p:nvPr/>
          </p:nvCxnSpPr>
          <p:spPr>
            <a:xfrm flipV="1">
              <a:off x="0" y="3657600"/>
              <a:ext cx="6222521" cy="63260"/>
            </a:xfrm>
            <a:prstGeom prst="line">
              <a:avLst/>
            </a:prstGeom>
          </p:spPr>
          <p:style>
            <a:lnRef idx="2">
              <a:schemeClr val="accent2"/>
            </a:lnRef>
            <a:fillRef idx="0">
              <a:schemeClr val="accent2"/>
            </a:fillRef>
            <a:effectRef idx="1">
              <a:schemeClr val="accent2"/>
            </a:effectRef>
            <a:fontRef idx="minor">
              <a:schemeClr val="tx1"/>
            </a:fontRef>
          </p:style>
        </p:cxnSp>
      </p:grpSp>
    </p:spTree>
    <p:extLst>
      <p:ext uri="{BB962C8B-B14F-4D97-AF65-F5344CB8AC3E}">
        <p14:creationId xmlns:p14="http://schemas.microsoft.com/office/powerpoint/2010/main" val="290682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06A70-BB60-EFEF-5801-A5EE6A190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80C96-C70F-947B-5C1C-107D29179DA7}"/>
              </a:ext>
            </a:extLst>
          </p:cNvPr>
          <p:cNvSpPr>
            <a:spLocks noGrp="1"/>
          </p:cNvSpPr>
          <p:nvPr>
            <p:ph type="title"/>
          </p:nvPr>
        </p:nvSpPr>
        <p:spPr/>
        <p:txBody>
          <a:bodyPr/>
          <a:lstStyle/>
          <a:p>
            <a:r>
              <a:rPr lang="en-IN" b="1" dirty="0"/>
              <a:t>Integration Runtime (IR)</a:t>
            </a:r>
          </a:p>
        </p:txBody>
      </p:sp>
      <p:sp>
        <p:nvSpPr>
          <p:cNvPr id="7" name="TextBox 6">
            <a:extLst>
              <a:ext uri="{FF2B5EF4-FFF2-40B4-BE49-F238E27FC236}">
                <a16:creationId xmlns:a16="http://schemas.microsoft.com/office/drawing/2014/main" id="{9157E412-2253-66B2-04FE-030EEDAFDBC2}"/>
              </a:ext>
            </a:extLst>
          </p:cNvPr>
          <p:cNvSpPr txBox="1"/>
          <p:nvPr/>
        </p:nvSpPr>
        <p:spPr>
          <a:xfrm>
            <a:off x="-80513" y="1906429"/>
            <a:ext cx="3916392" cy="4924098"/>
          </a:xfrm>
          <a:prstGeom prst="roundRect">
            <a:avLst/>
          </a:prstGeom>
          <a:noFill/>
          <a:ln>
            <a:solidFill>
              <a:schemeClr val="tx1">
                <a:lumMod val="75000"/>
              </a:schemeClr>
            </a:solidFill>
          </a:ln>
        </p:spPr>
        <p:txBody>
          <a:bodyPr wrap="square" rtlCol="0" anchor="ctr">
            <a:spAutoFit/>
          </a:bodyPr>
          <a:lstStyle/>
          <a:p>
            <a:r>
              <a:rPr lang="en-IN" sz="1200" b="1" dirty="0"/>
              <a:t>Azure Integration Runtime (Azure-IR)</a:t>
            </a:r>
            <a:endParaRPr lang="en-IN" sz="1200" dirty="0"/>
          </a:p>
          <a:p>
            <a:endParaRPr lang="en-IN" sz="300" b="1" dirty="0"/>
          </a:p>
          <a:p>
            <a:r>
              <a:rPr lang="en-IN" sz="1200" b="1" dirty="0"/>
              <a:t>Overview</a:t>
            </a:r>
            <a:endParaRPr lang="en-IN" sz="1200" dirty="0"/>
          </a:p>
          <a:p>
            <a:r>
              <a:rPr lang="en-IN" sz="1200" dirty="0"/>
              <a:t>Azure-IR is a fully managed, cloud-based integration runtime provided by Microsoft. It is suitable for data integration tasks that don't require access to on-premises data sources. This IR handles data movement, data transformation, and dispatching activities in the cloud.</a:t>
            </a:r>
          </a:p>
          <a:p>
            <a:r>
              <a:rPr lang="en-IN" sz="1200" b="1" dirty="0"/>
              <a:t>Features</a:t>
            </a:r>
            <a:endParaRPr lang="en-IN" sz="1200" dirty="0"/>
          </a:p>
          <a:p>
            <a:pPr lvl="0"/>
            <a:r>
              <a:rPr lang="en-IN" sz="1200" b="1" dirty="0"/>
              <a:t>Fully Managed</a:t>
            </a:r>
            <a:r>
              <a:rPr lang="en-IN" sz="1200" dirty="0"/>
              <a:t>: No infrastructure management required; Microsoft handles the provisioning, scaling, and maintenance.</a:t>
            </a:r>
          </a:p>
          <a:p>
            <a:pPr lvl="0"/>
            <a:r>
              <a:rPr lang="en-IN" sz="1200" b="1" dirty="0"/>
              <a:t>Data Movement</a:t>
            </a:r>
            <a:r>
              <a:rPr lang="en-IN" sz="1200" dirty="0"/>
              <a:t>: Efficiently moves data between different cloud data stores.</a:t>
            </a:r>
          </a:p>
          <a:p>
            <a:pPr lvl="0"/>
            <a:r>
              <a:rPr lang="en-IN" sz="1200" b="1" dirty="0"/>
              <a:t>Data Transformation</a:t>
            </a:r>
            <a:r>
              <a:rPr lang="en-IN" sz="1200" dirty="0"/>
              <a:t>: Supports data transformation activities using Mapping Data Flows.</a:t>
            </a:r>
          </a:p>
          <a:p>
            <a:pPr lvl="0"/>
            <a:r>
              <a:rPr lang="en-IN" sz="1200" b="1" dirty="0"/>
              <a:t>Activity Dispatch</a:t>
            </a:r>
            <a:r>
              <a:rPr lang="en-IN" sz="1200" dirty="0"/>
              <a:t>: Orchestrates activities on various compute services such as Azure Databricks, Azure HDInsight, and more.</a:t>
            </a:r>
          </a:p>
          <a:p>
            <a:r>
              <a:rPr lang="en-IN" sz="1200" b="1" dirty="0"/>
              <a:t>Use Cases</a:t>
            </a:r>
            <a:endParaRPr lang="en-IN" sz="1200" dirty="0"/>
          </a:p>
          <a:p>
            <a:pPr lvl="0"/>
            <a:r>
              <a:rPr lang="en-IN" sz="1200" dirty="0"/>
              <a:t>Copying data between cloud-based data stores.</a:t>
            </a:r>
          </a:p>
          <a:p>
            <a:pPr lvl="0"/>
            <a:r>
              <a:rPr lang="en-IN" sz="1200" dirty="0"/>
              <a:t>Executing data transformation activities in the cloud.</a:t>
            </a:r>
          </a:p>
          <a:p>
            <a:pPr lvl="0"/>
            <a:r>
              <a:rPr lang="en-IN" sz="1200" dirty="0"/>
              <a:t>Orchestrating data workflows involving cloud services.</a:t>
            </a:r>
          </a:p>
        </p:txBody>
      </p:sp>
      <p:sp>
        <p:nvSpPr>
          <p:cNvPr id="14" name="TextBox 13">
            <a:extLst>
              <a:ext uri="{FF2B5EF4-FFF2-40B4-BE49-F238E27FC236}">
                <a16:creationId xmlns:a16="http://schemas.microsoft.com/office/drawing/2014/main" id="{31F7EC36-2CAF-02FA-8480-CF34C960141C}"/>
              </a:ext>
            </a:extLst>
          </p:cNvPr>
          <p:cNvSpPr txBox="1"/>
          <p:nvPr/>
        </p:nvSpPr>
        <p:spPr>
          <a:xfrm>
            <a:off x="3916392" y="1869039"/>
            <a:ext cx="3985403" cy="5073313"/>
          </a:xfrm>
          <a:prstGeom prst="roundRect">
            <a:avLst/>
          </a:prstGeom>
          <a:noFill/>
          <a:ln>
            <a:solidFill>
              <a:schemeClr val="tx1">
                <a:lumMod val="75000"/>
              </a:schemeClr>
            </a:solidFill>
          </a:ln>
        </p:spPr>
        <p:txBody>
          <a:bodyPr wrap="square" rtlCol="0" anchor="ctr">
            <a:spAutoFit/>
          </a:bodyPr>
          <a:lstStyle/>
          <a:p>
            <a:r>
              <a:rPr lang="en-IN" sz="1200" b="1" dirty="0"/>
              <a:t>Self-Hosted Integration Runtime (SH-IR)</a:t>
            </a:r>
            <a:endParaRPr lang="en-IN" sz="1200" dirty="0"/>
          </a:p>
          <a:p>
            <a:endParaRPr lang="en-IN" sz="500" b="1" dirty="0"/>
          </a:p>
          <a:p>
            <a:r>
              <a:rPr lang="en-IN" sz="1200" b="1" dirty="0"/>
              <a:t>Overview</a:t>
            </a:r>
            <a:endParaRPr lang="en-IN" sz="1200" dirty="0"/>
          </a:p>
          <a:p>
            <a:r>
              <a:rPr lang="en-IN" sz="1200" dirty="0"/>
              <a:t>SH-IR is installed on a local machine or virtual machine within your private network. It facilitates data integration tasks that require access to on-premises data sources or resources in a private network.</a:t>
            </a:r>
          </a:p>
          <a:p>
            <a:r>
              <a:rPr lang="en-IN" sz="1200" b="1" dirty="0"/>
              <a:t>Features</a:t>
            </a:r>
            <a:endParaRPr lang="en-IN" sz="1200" dirty="0"/>
          </a:p>
          <a:p>
            <a:pPr lvl="0"/>
            <a:r>
              <a:rPr lang="en-IN" sz="1200" b="1" dirty="0"/>
              <a:t>Customer-Managed</a:t>
            </a:r>
            <a:r>
              <a:rPr lang="en-IN" sz="1200" dirty="0"/>
              <a:t>: Requires you to install, configure, and maintain the runtime on your infrastructure.</a:t>
            </a:r>
          </a:p>
          <a:p>
            <a:pPr lvl="0"/>
            <a:r>
              <a:rPr lang="en-IN" sz="1200" b="1" dirty="0"/>
              <a:t>Hybrid Connectivity</a:t>
            </a:r>
            <a:r>
              <a:rPr lang="en-IN" sz="1200" dirty="0"/>
              <a:t>: Supports data movement between on-premises data sources and cloud data stores.</a:t>
            </a:r>
          </a:p>
          <a:p>
            <a:pPr lvl="0"/>
            <a:r>
              <a:rPr lang="en-IN" sz="1200" b="1" dirty="0"/>
              <a:t>Secure Data Transfer</a:t>
            </a:r>
            <a:r>
              <a:rPr lang="en-IN" sz="1200" dirty="0"/>
              <a:t>: Ensures secure data transfer using encrypted channels.</a:t>
            </a:r>
          </a:p>
          <a:p>
            <a:pPr lvl="0"/>
            <a:r>
              <a:rPr lang="en-IN" sz="1200" b="1" dirty="0"/>
              <a:t>Custom Execution</a:t>
            </a:r>
            <a:r>
              <a:rPr lang="en-IN" sz="1200" dirty="0"/>
              <a:t>: Can execute custom activities, run SSIS packages, and connect to private network resources.</a:t>
            </a:r>
          </a:p>
          <a:p>
            <a:r>
              <a:rPr lang="en-IN" sz="1200" b="1" dirty="0"/>
              <a:t>Use Cases</a:t>
            </a:r>
            <a:endParaRPr lang="en-IN" sz="1200" dirty="0"/>
          </a:p>
          <a:p>
            <a:pPr lvl="0"/>
            <a:r>
              <a:rPr lang="en-IN" sz="1200" dirty="0"/>
              <a:t>Copying data from on-premises SQL Server to Azure Blob Storage.</a:t>
            </a:r>
          </a:p>
          <a:p>
            <a:pPr lvl="0"/>
            <a:r>
              <a:rPr lang="en-IN" sz="1200" dirty="0"/>
              <a:t>Moving data between on-premises systems and cloud-based data stores.</a:t>
            </a:r>
          </a:p>
          <a:p>
            <a:pPr lvl="0"/>
            <a:r>
              <a:rPr lang="en-IN" sz="1200" dirty="0"/>
              <a:t>Orchestrating hybrid data workflows involving both on-premises and cloud services.</a:t>
            </a:r>
          </a:p>
        </p:txBody>
      </p:sp>
      <p:sp>
        <p:nvSpPr>
          <p:cNvPr id="16" name="TextBox 15">
            <a:extLst>
              <a:ext uri="{FF2B5EF4-FFF2-40B4-BE49-F238E27FC236}">
                <a16:creationId xmlns:a16="http://schemas.microsoft.com/office/drawing/2014/main" id="{A0053178-7317-61F4-F1CB-E9A65F6ADE4C}"/>
              </a:ext>
            </a:extLst>
          </p:cNvPr>
          <p:cNvSpPr txBox="1"/>
          <p:nvPr/>
        </p:nvSpPr>
        <p:spPr>
          <a:xfrm>
            <a:off x="7982308" y="1906429"/>
            <a:ext cx="4218368" cy="4951571"/>
          </a:xfrm>
          <a:prstGeom prst="roundRect">
            <a:avLst/>
          </a:prstGeom>
          <a:noFill/>
          <a:ln>
            <a:solidFill>
              <a:schemeClr val="tx1">
                <a:lumMod val="75000"/>
              </a:schemeClr>
            </a:solidFill>
          </a:ln>
        </p:spPr>
        <p:txBody>
          <a:bodyPr wrap="square" rtlCol="0" anchor="ctr">
            <a:spAutoFit/>
          </a:bodyPr>
          <a:lstStyle/>
          <a:p>
            <a:r>
              <a:rPr lang="en-IN" sz="1400" b="1" dirty="0"/>
              <a:t>Azure-SSIS Integration Runtime (Azure-SSIS-IR)</a:t>
            </a:r>
            <a:endParaRPr lang="en-IN" sz="1050" b="1" dirty="0"/>
          </a:p>
          <a:p>
            <a:r>
              <a:rPr lang="en-IN" sz="1200" b="1" dirty="0"/>
              <a:t>Overview</a:t>
            </a:r>
            <a:endParaRPr lang="en-IN" sz="1200" dirty="0"/>
          </a:p>
          <a:p>
            <a:r>
              <a:rPr lang="en-IN" sz="1200" dirty="0"/>
              <a:t>Azure-SSIS-IR is specifically designed for executing SQL Server Integration Services (SSIS) packages in a managed Azure compute environment. This IR allows you to lift and shift your existing SSIS packages to Azure with minimal changes.</a:t>
            </a:r>
          </a:p>
          <a:p>
            <a:r>
              <a:rPr lang="en-IN" sz="1200" b="1" dirty="0"/>
              <a:t>Features</a:t>
            </a:r>
            <a:endParaRPr lang="en-IN" sz="1200" dirty="0"/>
          </a:p>
          <a:p>
            <a:pPr lvl="0"/>
            <a:r>
              <a:rPr lang="en-IN" sz="1200" b="1" dirty="0"/>
              <a:t>Managed SSIS Execution</a:t>
            </a:r>
            <a:r>
              <a:rPr lang="en-IN" sz="1200" dirty="0"/>
              <a:t>: Provides a fully managed environment for running SSIS packages in Azure.</a:t>
            </a:r>
          </a:p>
          <a:p>
            <a:pPr lvl="0"/>
            <a:r>
              <a:rPr lang="en-IN" sz="1200" b="1" dirty="0"/>
              <a:t>Integration with Azure Services</a:t>
            </a:r>
            <a:r>
              <a:rPr lang="en-IN" sz="1200" dirty="0"/>
              <a:t>: Allows seamless integration with other Azure services such as Azure SQL Database, Azure Data Lake Storage, and more.</a:t>
            </a:r>
          </a:p>
          <a:p>
            <a:pPr lvl="0"/>
            <a:r>
              <a:rPr lang="en-IN" sz="1200" b="1" dirty="0"/>
              <a:t>Custom Package Execution</a:t>
            </a:r>
            <a:r>
              <a:rPr lang="en-IN" sz="1200" dirty="0"/>
              <a:t>: Supports executing custom SSIS packages, leveraging existing on-premises investments.</a:t>
            </a:r>
          </a:p>
          <a:p>
            <a:pPr lvl="0"/>
            <a:r>
              <a:rPr lang="en-IN" sz="1200" b="1" dirty="0"/>
              <a:t>Scalability</a:t>
            </a:r>
            <a:r>
              <a:rPr lang="en-IN" sz="1200" dirty="0"/>
              <a:t>: Automatically scales based on the demands of your SSIS workloads.</a:t>
            </a:r>
          </a:p>
          <a:p>
            <a:r>
              <a:rPr lang="en-IN" sz="1200" b="1" dirty="0"/>
              <a:t>Use Cases</a:t>
            </a:r>
            <a:endParaRPr lang="en-IN" sz="1200" dirty="0"/>
          </a:p>
          <a:p>
            <a:pPr lvl="0"/>
            <a:r>
              <a:rPr lang="en-IN" sz="1200" dirty="0"/>
              <a:t>Migrating on-premises SSIS packages to Azure.</a:t>
            </a:r>
          </a:p>
          <a:p>
            <a:pPr lvl="0"/>
            <a:r>
              <a:rPr lang="en-IN" sz="1200" dirty="0"/>
              <a:t>Running SSIS packages to perform ETL (Extract, Transform, Load) operations in the cloud.</a:t>
            </a:r>
          </a:p>
          <a:p>
            <a:pPr lvl="0"/>
            <a:r>
              <a:rPr lang="en-IN" sz="1200" dirty="0"/>
              <a:t>Integrating SSIS packages with other Azure services for enhanced data workflows.</a:t>
            </a:r>
          </a:p>
        </p:txBody>
      </p:sp>
    </p:spTree>
    <p:extLst>
      <p:ext uri="{BB962C8B-B14F-4D97-AF65-F5344CB8AC3E}">
        <p14:creationId xmlns:p14="http://schemas.microsoft.com/office/powerpoint/2010/main" val="294917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C31195-89EC-A15A-3C95-63E909EE0AB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212" y="1787504"/>
            <a:ext cx="6691084" cy="5070495"/>
          </a:xfrm>
          <a:prstGeom prst="rect">
            <a:avLst/>
          </a:prstGeom>
          <a:noFill/>
          <a:ln>
            <a:noFill/>
          </a:ln>
        </p:spPr>
      </p:pic>
    </p:spTree>
    <p:extLst>
      <p:ext uri="{BB962C8B-B14F-4D97-AF65-F5344CB8AC3E}">
        <p14:creationId xmlns:p14="http://schemas.microsoft.com/office/powerpoint/2010/main" val="70508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EFE12-95DE-BCD8-41AD-4935CC5D4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3795A-ABB3-AFC6-4E57-0EBE651F908A}"/>
              </a:ext>
            </a:extLst>
          </p:cNvPr>
          <p:cNvSpPr>
            <a:spLocks noGrp="1"/>
          </p:cNvSpPr>
          <p:nvPr>
            <p:ph type="title"/>
          </p:nvPr>
        </p:nvSpPr>
        <p:spPr/>
        <p:txBody>
          <a:bodyPr/>
          <a:lstStyle/>
          <a:p>
            <a:r>
              <a:rPr lang="en-IN" dirty="0"/>
              <a:t>Dataset</a:t>
            </a:r>
            <a:endParaRPr lang="en-IN" b="1" dirty="0"/>
          </a:p>
        </p:txBody>
      </p:sp>
      <p:sp>
        <p:nvSpPr>
          <p:cNvPr id="4" name="TextBox 3">
            <a:extLst>
              <a:ext uri="{FF2B5EF4-FFF2-40B4-BE49-F238E27FC236}">
                <a16:creationId xmlns:a16="http://schemas.microsoft.com/office/drawing/2014/main" id="{1CE92B80-EE35-139F-4043-E1C2CF3054DF}"/>
              </a:ext>
            </a:extLst>
          </p:cNvPr>
          <p:cNvSpPr txBox="1"/>
          <p:nvPr/>
        </p:nvSpPr>
        <p:spPr>
          <a:xfrm>
            <a:off x="235789" y="2160766"/>
            <a:ext cx="2950233" cy="2009061"/>
          </a:xfrm>
          <a:prstGeom prst="roundRect">
            <a:avLst/>
          </a:prstGeom>
          <a:noFill/>
          <a:ln>
            <a:solidFill>
              <a:schemeClr val="tx1">
                <a:lumMod val="75000"/>
              </a:schemeClr>
            </a:solidFill>
          </a:ln>
        </p:spPr>
        <p:txBody>
          <a:bodyPr wrap="square" rtlCol="0" anchor="ctr">
            <a:spAutoFit/>
          </a:bodyPr>
          <a:lstStyle/>
          <a:p>
            <a:r>
              <a:rPr lang="en-IN" sz="1400" dirty="0"/>
              <a:t>In Azure Data Factory, a </a:t>
            </a:r>
            <a:r>
              <a:rPr lang="en-IN" sz="1400" b="1" dirty="0"/>
              <a:t>Dataset represents the data structure within your data stores that is used in activities like copying or transforming data</a:t>
            </a:r>
            <a:r>
              <a:rPr lang="en-IN" sz="1400" dirty="0"/>
              <a:t>. It’s essentially a reference to the data you want to process, including its schema, location, and format</a:t>
            </a:r>
          </a:p>
        </p:txBody>
      </p:sp>
      <p:sp>
        <p:nvSpPr>
          <p:cNvPr id="5" name="TextBox 4">
            <a:extLst>
              <a:ext uri="{FF2B5EF4-FFF2-40B4-BE49-F238E27FC236}">
                <a16:creationId xmlns:a16="http://schemas.microsoft.com/office/drawing/2014/main" id="{6DB65C81-1FB7-AC54-CC85-60785003C1DB}"/>
              </a:ext>
            </a:extLst>
          </p:cNvPr>
          <p:cNvSpPr txBox="1"/>
          <p:nvPr/>
        </p:nvSpPr>
        <p:spPr>
          <a:xfrm>
            <a:off x="3318293" y="2041585"/>
            <a:ext cx="8637917" cy="4597003"/>
          </a:xfrm>
          <a:prstGeom prst="roundRect">
            <a:avLst/>
          </a:prstGeom>
          <a:noFill/>
          <a:ln>
            <a:solidFill>
              <a:schemeClr val="tx1">
                <a:lumMod val="75000"/>
              </a:schemeClr>
            </a:solidFill>
          </a:ln>
        </p:spPr>
        <p:txBody>
          <a:bodyPr wrap="square" rtlCol="0">
            <a:spAutoFit/>
          </a:bodyPr>
          <a:lstStyle/>
          <a:p>
            <a:pPr lvl="0"/>
            <a:r>
              <a:rPr lang="en-IN" sz="1600" b="1" dirty="0"/>
              <a:t>Key Points</a:t>
            </a:r>
          </a:p>
          <a:p>
            <a:pPr lvl="0"/>
            <a:endParaRPr lang="en-IN" sz="1100" b="1" dirty="0"/>
          </a:p>
          <a:p>
            <a:pPr lvl="0"/>
            <a:endParaRPr lang="en-IN" sz="1100" b="1" dirty="0"/>
          </a:p>
          <a:p>
            <a:pPr marL="285750" lvl="0" indent="-285750">
              <a:buFont typeface="Arial" panose="020B0604020202020204" pitchFamily="34" charset="0"/>
              <a:buChar char="•"/>
            </a:pPr>
            <a:r>
              <a:rPr lang="en-IN" sz="1400" b="1" dirty="0"/>
              <a:t>Representation of Data</a:t>
            </a:r>
            <a:r>
              <a:rPr lang="en-IN" sz="1400" dirty="0"/>
              <a:t>:</a:t>
            </a:r>
          </a:p>
          <a:p>
            <a:pPr marL="742950" lvl="1" indent="-285750">
              <a:buFont typeface="Arial" panose="020B0604020202020204" pitchFamily="34" charset="0"/>
              <a:buChar char="•"/>
            </a:pPr>
            <a:r>
              <a:rPr lang="en-IN" sz="1400" dirty="0"/>
              <a:t>A dataset provides the schema and metadata of the data. For example, it can represent a table in a database, a file in a storage account, or a directory containing multiple files.</a:t>
            </a:r>
          </a:p>
          <a:p>
            <a:pPr marL="285750" lvl="0" indent="-285750">
              <a:buFont typeface="Arial" panose="020B0604020202020204" pitchFamily="34" charset="0"/>
              <a:buChar char="•"/>
            </a:pPr>
            <a:r>
              <a:rPr lang="en-IN" sz="1400" b="1" dirty="0"/>
              <a:t>Types of Datasets</a:t>
            </a:r>
            <a:r>
              <a:rPr lang="en-IN" sz="1400" dirty="0"/>
              <a:t>:</a:t>
            </a:r>
          </a:p>
          <a:p>
            <a:pPr marL="742950" lvl="1" indent="-285750">
              <a:buFont typeface="Arial" panose="020B0604020202020204" pitchFamily="34" charset="0"/>
              <a:buChar char="•"/>
            </a:pPr>
            <a:r>
              <a:rPr lang="en-IN" sz="1400" b="1" dirty="0"/>
              <a:t>Tabular Dataset</a:t>
            </a:r>
            <a:r>
              <a:rPr lang="en-IN" sz="1400" dirty="0"/>
              <a:t>: Represents data structures like tables, files, or any source that can be structured in a tabular format.</a:t>
            </a:r>
          </a:p>
          <a:p>
            <a:pPr marL="742950" lvl="1" indent="-285750">
              <a:buFont typeface="Arial" panose="020B0604020202020204" pitchFamily="34" charset="0"/>
              <a:buChar char="•"/>
            </a:pPr>
            <a:r>
              <a:rPr lang="en-IN" sz="1400" b="1" dirty="0"/>
              <a:t>Binary Dataset</a:t>
            </a:r>
            <a:r>
              <a:rPr lang="en-IN" sz="1400" dirty="0"/>
              <a:t>: Represents binary data, typically used for file formats like images, videos, and compressed files.</a:t>
            </a:r>
          </a:p>
          <a:p>
            <a:pPr marL="285750" lvl="0" indent="-285750">
              <a:buFont typeface="Arial" panose="020B0604020202020204" pitchFamily="34" charset="0"/>
              <a:buChar char="•"/>
            </a:pPr>
            <a:r>
              <a:rPr lang="en-IN" sz="1400" b="1" dirty="0"/>
              <a:t>Connection to Linked Services</a:t>
            </a:r>
            <a:r>
              <a:rPr lang="en-IN" sz="1400" dirty="0"/>
              <a:t>:</a:t>
            </a:r>
          </a:p>
          <a:p>
            <a:pPr marL="742950" lvl="1" indent="-285750">
              <a:buFont typeface="Arial" panose="020B0604020202020204" pitchFamily="34" charset="0"/>
              <a:buChar char="•"/>
            </a:pPr>
            <a:r>
              <a:rPr lang="en-IN" sz="1400" dirty="0"/>
              <a:t>A dataset is associated with a linked service, which provides the connection information to the data store where the data resides.</a:t>
            </a:r>
          </a:p>
          <a:p>
            <a:pPr marL="285750" lvl="0" indent="-285750">
              <a:buFont typeface="Arial" panose="020B0604020202020204" pitchFamily="34" charset="0"/>
              <a:buChar char="•"/>
            </a:pPr>
            <a:r>
              <a:rPr lang="en-IN" sz="1400" b="1" dirty="0"/>
              <a:t>Schema and Properties</a:t>
            </a:r>
            <a:r>
              <a:rPr lang="en-IN" sz="1400" dirty="0"/>
              <a:t>:</a:t>
            </a:r>
          </a:p>
          <a:p>
            <a:pPr marL="742950" lvl="1" indent="-285750">
              <a:buFont typeface="Arial" panose="020B0604020202020204" pitchFamily="34" charset="0"/>
              <a:buChar char="•"/>
            </a:pPr>
            <a:r>
              <a:rPr lang="en-IN" sz="1400" dirty="0"/>
              <a:t>Datasets define the structure of the data, including columns, data types, and any additional metadata required to understand and process the data.</a:t>
            </a:r>
          </a:p>
          <a:p>
            <a:pPr marL="285750" lvl="0" indent="-285750">
              <a:buFont typeface="Arial" panose="020B0604020202020204" pitchFamily="34" charset="0"/>
              <a:buChar char="•"/>
            </a:pPr>
            <a:r>
              <a:rPr lang="en-IN" sz="1400" b="1" dirty="0"/>
              <a:t>Data Location and Format</a:t>
            </a:r>
            <a:r>
              <a:rPr lang="en-IN" sz="1400" dirty="0"/>
              <a:t>:</a:t>
            </a:r>
          </a:p>
          <a:p>
            <a:pPr marL="742950" lvl="1" indent="-285750">
              <a:buFont typeface="Arial" panose="020B0604020202020204" pitchFamily="34" charset="0"/>
              <a:buChar char="•"/>
            </a:pPr>
            <a:r>
              <a:rPr lang="en-IN" sz="1400" dirty="0"/>
              <a:t>Specifies the path to the data (e.g., file path, table name) and its format (e.g., CSV, JSON, Parquet).</a:t>
            </a:r>
          </a:p>
        </p:txBody>
      </p:sp>
      <p:cxnSp>
        <p:nvCxnSpPr>
          <p:cNvPr id="10" name="Straight Connector 9">
            <a:extLst>
              <a:ext uri="{FF2B5EF4-FFF2-40B4-BE49-F238E27FC236}">
                <a16:creationId xmlns:a16="http://schemas.microsoft.com/office/drawing/2014/main" id="{751E52F2-D238-2004-A607-78E316A7B447}"/>
              </a:ext>
            </a:extLst>
          </p:cNvPr>
          <p:cNvCxnSpPr/>
          <p:nvPr/>
        </p:nvCxnSpPr>
        <p:spPr>
          <a:xfrm>
            <a:off x="3548332" y="2835215"/>
            <a:ext cx="8149087" cy="0"/>
          </a:xfrm>
          <a:prstGeom prst="line">
            <a:avLst/>
          </a:prstGeom>
        </p:spPr>
        <p:style>
          <a:lnRef idx="3">
            <a:schemeClr val="accent2"/>
          </a:lnRef>
          <a:fillRef idx="0">
            <a:schemeClr val="accent2"/>
          </a:fillRef>
          <a:effectRef idx="2">
            <a:schemeClr val="accent2"/>
          </a:effectRef>
          <a:fontRef idx="minor">
            <a:schemeClr val="tx1"/>
          </a:fontRef>
        </p:style>
      </p:cxnSp>
      <p:sp>
        <p:nvSpPr>
          <p:cNvPr id="3" name="TextBox 2">
            <a:extLst>
              <a:ext uri="{FF2B5EF4-FFF2-40B4-BE49-F238E27FC236}">
                <a16:creationId xmlns:a16="http://schemas.microsoft.com/office/drawing/2014/main" id="{2DE0B733-6E5F-238B-63AF-7832C5BF3DCF}"/>
              </a:ext>
            </a:extLst>
          </p:cNvPr>
          <p:cNvSpPr txBox="1"/>
          <p:nvPr/>
        </p:nvSpPr>
        <p:spPr>
          <a:xfrm>
            <a:off x="235790" y="4315651"/>
            <a:ext cx="2996240" cy="2485787"/>
          </a:xfrm>
          <a:prstGeom prst="roundRect">
            <a:avLst/>
          </a:prstGeom>
          <a:noFill/>
          <a:ln>
            <a:solidFill>
              <a:schemeClr val="tx1">
                <a:lumMod val="75000"/>
              </a:schemeClr>
            </a:solidFill>
          </a:ln>
        </p:spPr>
        <p:txBody>
          <a:bodyPr wrap="square" rtlCol="0" anchor="ctr">
            <a:spAutoFit/>
          </a:bodyPr>
          <a:lstStyle/>
          <a:p>
            <a:r>
              <a:rPr lang="en-IN" sz="1400" b="1" u="sng" dirty="0"/>
              <a:t>Use Cases</a:t>
            </a:r>
            <a:endParaRPr lang="en-IN" sz="1400" u="sng" dirty="0"/>
          </a:p>
          <a:p>
            <a:pPr lvl="0"/>
            <a:r>
              <a:rPr lang="en-IN" sz="1400" b="1" dirty="0"/>
              <a:t>Copy Activity</a:t>
            </a:r>
            <a:r>
              <a:rPr lang="en-IN" sz="1400" dirty="0"/>
              <a:t>: Define source and destination datasets for data copying.</a:t>
            </a:r>
          </a:p>
          <a:p>
            <a:pPr lvl="0"/>
            <a:r>
              <a:rPr lang="en-IN" sz="1400" b="1" dirty="0"/>
              <a:t>Mapping Data Flow</a:t>
            </a:r>
            <a:r>
              <a:rPr lang="en-IN" sz="1400" dirty="0"/>
              <a:t>: Use datasets to define input and output data for transformations.</a:t>
            </a:r>
          </a:p>
          <a:p>
            <a:pPr lvl="0"/>
            <a:r>
              <a:rPr lang="en-IN" sz="1400" b="1" dirty="0"/>
              <a:t>Lookup Activity</a:t>
            </a:r>
            <a:r>
              <a:rPr lang="en-IN" sz="1400" dirty="0"/>
              <a:t>: Retrieve data from a dataset to be used in subsequent activities.</a:t>
            </a:r>
          </a:p>
        </p:txBody>
      </p:sp>
    </p:spTree>
    <p:extLst>
      <p:ext uri="{BB962C8B-B14F-4D97-AF65-F5344CB8AC3E}">
        <p14:creationId xmlns:p14="http://schemas.microsoft.com/office/powerpoint/2010/main" val="2962001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9814-6F32-9DBC-8541-A6DC89F31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CA64B-9C67-8F10-E5BE-D3D09328C135}"/>
              </a:ext>
            </a:extLst>
          </p:cNvPr>
          <p:cNvSpPr>
            <a:spLocks noGrp="1"/>
          </p:cNvSpPr>
          <p:nvPr>
            <p:ph type="title"/>
          </p:nvPr>
        </p:nvSpPr>
        <p:spPr/>
        <p:txBody>
          <a:bodyPr/>
          <a:lstStyle/>
          <a:p>
            <a:r>
              <a:rPr lang="en-IN" dirty="0"/>
              <a:t>storage account</a:t>
            </a:r>
            <a:endParaRPr lang="en-IN" b="1" dirty="0"/>
          </a:p>
        </p:txBody>
      </p:sp>
      <p:sp>
        <p:nvSpPr>
          <p:cNvPr id="4" name="TextBox 3">
            <a:extLst>
              <a:ext uri="{FF2B5EF4-FFF2-40B4-BE49-F238E27FC236}">
                <a16:creationId xmlns:a16="http://schemas.microsoft.com/office/drawing/2014/main" id="{D4CC8EAD-FB4F-8081-50D8-50BB02D6C3CC}"/>
              </a:ext>
            </a:extLst>
          </p:cNvPr>
          <p:cNvSpPr txBox="1"/>
          <p:nvPr/>
        </p:nvSpPr>
        <p:spPr>
          <a:xfrm>
            <a:off x="94889" y="2026939"/>
            <a:ext cx="6176513" cy="817245"/>
          </a:xfrm>
          <a:prstGeom prst="roundRect">
            <a:avLst/>
          </a:prstGeom>
          <a:noFill/>
          <a:ln>
            <a:solidFill>
              <a:schemeClr val="tx1">
                <a:lumMod val="75000"/>
              </a:schemeClr>
            </a:solidFill>
          </a:ln>
        </p:spPr>
        <p:txBody>
          <a:bodyPr wrap="square" rtlCol="0" anchor="ctr">
            <a:spAutoFit/>
          </a:bodyPr>
          <a:lstStyle/>
          <a:p>
            <a:r>
              <a:rPr lang="en-IN" sz="1400" dirty="0"/>
              <a:t>It is a service provided by Microsoft Azure that is designed for storing large amounts of unstructured data. "Blob" stands for "Binary Large Object." It is highly scalable, cost-effective, and optimized for a wide range of data storage scenarios</a:t>
            </a:r>
          </a:p>
        </p:txBody>
      </p:sp>
      <p:grpSp>
        <p:nvGrpSpPr>
          <p:cNvPr id="8" name="Group 7">
            <a:extLst>
              <a:ext uri="{FF2B5EF4-FFF2-40B4-BE49-F238E27FC236}">
                <a16:creationId xmlns:a16="http://schemas.microsoft.com/office/drawing/2014/main" id="{E1CCAC40-F2E8-BA39-C0BA-BE5AD67F813C}"/>
              </a:ext>
            </a:extLst>
          </p:cNvPr>
          <p:cNvGrpSpPr/>
          <p:nvPr/>
        </p:nvGrpSpPr>
        <p:grpSpPr>
          <a:xfrm>
            <a:off x="6337539" y="1920814"/>
            <a:ext cx="5805580" cy="1736646"/>
            <a:chOff x="5434950" y="2041585"/>
            <a:chExt cx="6521260" cy="1736646"/>
          </a:xfrm>
        </p:grpSpPr>
        <p:sp>
          <p:nvSpPr>
            <p:cNvPr id="5" name="TextBox 4">
              <a:extLst>
                <a:ext uri="{FF2B5EF4-FFF2-40B4-BE49-F238E27FC236}">
                  <a16:creationId xmlns:a16="http://schemas.microsoft.com/office/drawing/2014/main" id="{77FE0408-9E50-393B-6F1B-29E96CF0E9B2}"/>
                </a:ext>
              </a:extLst>
            </p:cNvPr>
            <p:cNvSpPr txBox="1"/>
            <p:nvPr/>
          </p:nvSpPr>
          <p:spPr>
            <a:xfrm>
              <a:off x="5501698" y="2041585"/>
              <a:ext cx="6454512" cy="1736646"/>
            </a:xfrm>
            <a:prstGeom prst="roundRect">
              <a:avLst/>
            </a:prstGeom>
            <a:noFill/>
            <a:ln>
              <a:solidFill>
                <a:schemeClr val="tx1">
                  <a:lumMod val="75000"/>
                </a:schemeClr>
              </a:solidFill>
            </a:ln>
          </p:spPr>
          <p:txBody>
            <a:bodyPr wrap="square" rtlCol="0">
              <a:spAutoFit/>
            </a:bodyPr>
            <a:lstStyle/>
            <a:p>
              <a:pPr lvl="0"/>
              <a:r>
                <a:rPr lang="en-IN" sz="1200" b="1" dirty="0">
                  <a:solidFill>
                    <a:srgbClr val="00B0F0"/>
                  </a:solidFill>
                </a:rPr>
                <a:t>Key Points</a:t>
              </a:r>
            </a:p>
            <a:p>
              <a:pPr marL="171450" lvl="0" indent="-171450">
                <a:buFont typeface="Arial" panose="020B0604020202020204" pitchFamily="34" charset="0"/>
                <a:buChar char="•"/>
              </a:pPr>
              <a:r>
                <a:rPr lang="en-IN" sz="1200" b="1" dirty="0"/>
                <a:t>Initial Creation</a:t>
              </a:r>
              <a:r>
                <a:rPr lang="en-IN" sz="1200" dirty="0"/>
                <a:t>: When you create a new storage account and select Azure Data Lake Storage Gen2, </a:t>
              </a:r>
              <a:r>
                <a:rPr lang="en-IN" sz="1200" b="1" i="1" dirty="0"/>
                <a:t>you have the option to enable the hierarchical namespace</a:t>
              </a:r>
              <a:r>
                <a:rPr lang="en-IN" sz="1200" dirty="0"/>
                <a:t>. This decision needs to be made at the time of creation.</a:t>
              </a:r>
            </a:p>
            <a:p>
              <a:pPr marL="171450" lvl="0" indent="-171450">
                <a:buFont typeface="Arial" panose="020B0604020202020204" pitchFamily="34" charset="0"/>
                <a:buChar char="•"/>
              </a:pPr>
              <a:r>
                <a:rPr lang="en-IN" sz="1200" b="1" dirty="0"/>
                <a:t>Post-Creation Limitation</a:t>
              </a:r>
              <a:r>
                <a:rPr lang="en-IN" sz="1200" dirty="0"/>
                <a:t>: </a:t>
              </a:r>
              <a:r>
                <a:rPr lang="en-IN" sz="1200" b="1" i="1" dirty="0"/>
                <a:t>If the storage account was initially created without hierarchical namespace enabled, you cannot enable it afterward</a:t>
              </a:r>
              <a:r>
                <a:rPr lang="en-IN" sz="1200" dirty="0"/>
                <a:t>. The hierarchical namespace feature is a fundamental property that must be set during the creation of the storage account.</a:t>
              </a:r>
            </a:p>
          </p:txBody>
        </p:sp>
        <p:cxnSp>
          <p:nvCxnSpPr>
            <p:cNvPr id="10" name="Straight Connector 9">
              <a:extLst>
                <a:ext uri="{FF2B5EF4-FFF2-40B4-BE49-F238E27FC236}">
                  <a16:creationId xmlns:a16="http://schemas.microsoft.com/office/drawing/2014/main" id="{9622DCD0-170B-3A0E-6D0E-2114D9355E49}"/>
                </a:ext>
              </a:extLst>
            </p:cNvPr>
            <p:cNvCxnSpPr>
              <a:cxnSpLocks/>
            </p:cNvCxnSpPr>
            <p:nvPr/>
          </p:nvCxnSpPr>
          <p:spPr>
            <a:xfrm flipV="1">
              <a:off x="5434950" y="2326742"/>
              <a:ext cx="6454512" cy="48876"/>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9" name="Group 8">
            <a:extLst>
              <a:ext uri="{FF2B5EF4-FFF2-40B4-BE49-F238E27FC236}">
                <a16:creationId xmlns:a16="http://schemas.microsoft.com/office/drawing/2014/main" id="{88F711E2-F51E-1006-2973-BB492F1DFCC0}"/>
              </a:ext>
            </a:extLst>
          </p:cNvPr>
          <p:cNvGrpSpPr/>
          <p:nvPr/>
        </p:nvGrpSpPr>
        <p:grpSpPr>
          <a:xfrm>
            <a:off x="6396961" y="3709363"/>
            <a:ext cx="5746156" cy="1123712"/>
            <a:chOff x="4813678" y="2041585"/>
            <a:chExt cx="7142532" cy="1050513"/>
          </a:xfrm>
        </p:grpSpPr>
        <p:sp>
          <p:nvSpPr>
            <p:cNvPr id="11" name="TextBox 10">
              <a:extLst>
                <a:ext uri="{FF2B5EF4-FFF2-40B4-BE49-F238E27FC236}">
                  <a16:creationId xmlns:a16="http://schemas.microsoft.com/office/drawing/2014/main" id="{B92DDF15-3C1B-1689-BC1D-2D4024F9E111}"/>
                </a:ext>
              </a:extLst>
            </p:cNvPr>
            <p:cNvSpPr txBox="1"/>
            <p:nvPr/>
          </p:nvSpPr>
          <p:spPr>
            <a:xfrm>
              <a:off x="4813679" y="2041585"/>
              <a:ext cx="7142531" cy="1050513"/>
            </a:xfrm>
            <a:prstGeom prst="roundRect">
              <a:avLst/>
            </a:prstGeom>
            <a:noFill/>
            <a:ln>
              <a:solidFill>
                <a:schemeClr val="tx1">
                  <a:lumMod val="75000"/>
                </a:schemeClr>
              </a:solidFill>
            </a:ln>
          </p:spPr>
          <p:txBody>
            <a:bodyPr wrap="square" rtlCol="0">
              <a:spAutoFit/>
            </a:bodyPr>
            <a:lstStyle/>
            <a:p>
              <a:r>
                <a:rPr lang="en-IN" sz="1200" b="1" dirty="0">
                  <a:solidFill>
                    <a:srgbClr val="00B0F0"/>
                  </a:solidFill>
                </a:rPr>
                <a:t>Scalability and Performance</a:t>
              </a:r>
              <a:r>
                <a:rPr lang="en-IN" sz="1200" dirty="0">
                  <a:solidFill>
                    <a:srgbClr val="00B0F0"/>
                  </a:solidFill>
                </a:rPr>
                <a:t>:</a:t>
              </a:r>
            </a:p>
            <a:p>
              <a:pPr marL="171450" indent="-171450">
                <a:buFont typeface="Arial" panose="020B0604020202020204" pitchFamily="34" charset="0"/>
                <a:buChar char="•"/>
              </a:pPr>
              <a:r>
                <a:rPr lang="en-IN" sz="1200" b="1" dirty="0"/>
                <a:t>High Scalability</a:t>
              </a:r>
              <a:r>
                <a:rPr lang="en-IN" sz="1200" dirty="0"/>
                <a:t>: Can store petabytes of data and handle millions of requests per second.</a:t>
              </a:r>
            </a:p>
            <a:p>
              <a:pPr marL="171450" indent="-171450">
                <a:buFont typeface="Arial" panose="020B0604020202020204" pitchFamily="34" charset="0"/>
                <a:buChar char="•"/>
              </a:pPr>
              <a:r>
                <a:rPr lang="en-IN" sz="1200" b="1" dirty="0"/>
                <a:t>Performance</a:t>
              </a:r>
              <a:r>
                <a:rPr lang="en-IN" sz="1200" dirty="0"/>
                <a:t>: Low latency and high throughput, making it suitable for high-demand applications.</a:t>
              </a:r>
            </a:p>
          </p:txBody>
        </p:sp>
        <p:cxnSp>
          <p:nvCxnSpPr>
            <p:cNvPr id="12" name="Straight Connector 11">
              <a:extLst>
                <a:ext uri="{FF2B5EF4-FFF2-40B4-BE49-F238E27FC236}">
                  <a16:creationId xmlns:a16="http://schemas.microsoft.com/office/drawing/2014/main" id="{CC9A23F2-7616-CA97-705F-B9028A1D962C}"/>
                </a:ext>
              </a:extLst>
            </p:cNvPr>
            <p:cNvCxnSpPr>
              <a:cxnSpLocks/>
            </p:cNvCxnSpPr>
            <p:nvPr/>
          </p:nvCxnSpPr>
          <p:spPr>
            <a:xfrm>
              <a:off x="4813678" y="2332878"/>
              <a:ext cx="7142531" cy="0"/>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8" name="Group 17">
            <a:extLst>
              <a:ext uri="{FF2B5EF4-FFF2-40B4-BE49-F238E27FC236}">
                <a16:creationId xmlns:a16="http://schemas.microsoft.com/office/drawing/2014/main" id="{748362FB-3FA7-AAFE-9DFE-76FE9B396138}"/>
              </a:ext>
            </a:extLst>
          </p:cNvPr>
          <p:cNvGrpSpPr/>
          <p:nvPr/>
        </p:nvGrpSpPr>
        <p:grpSpPr>
          <a:xfrm>
            <a:off x="94889" y="2970639"/>
            <a:ext cx="6222521" cy="1736646"/>
            <a:chOff x="0" y="3940765"/>
            <a:chExt cx="6222521" cy="1841613"/>
          </a:xfrm>
        </p:grpSpPr>
        <p:sp>
          <p:nvSpPr>
            <p:cNvPr id="6" name="TextBox 5">
              <a:extLst>
                <a:ext uri="{FF2B5EF4-FFF2-40B4-BE49-F238E27FC236}">
                  <a16:creationId xmlns:a16="http://schemas.microsoft.com/office/drawing/2014/main" id="{D8BAFB37-0D55-2DB7-4C9C-C7273051D141}"/>
                </a:ext>
              </a:extLst>
            </p:cNvPr>
            <p:cNvSpPr txBox="1"/>
            <p:nvPr/>
          </p:nvSpPr>
          <p:spPr>
            <a:xfrm>
              <a:off x="0" y="3940765"/>
              <a:ext cx="6222521" cy="1841613"/>
            </a:xfrm>
            <a:prstGeom prst="roundRect">
              <a:avLst/>
            </a:prstGeom>
            <a:noFill/>
            <a:ln>
              <a:solidFill>
                <a:schemeClr val="tx1">
                  <a:lumMod val="75000"/>
                </a:schemeClr>
              </a:solidFill>
            </a:ln>
          </p:spPr>
          <p:txBody>
            <a:bodyPr wrap="square" rtlCol="0" anchor="ctr">
              <a:spAutoFit/>
            </a:bodyPr>
            <a:lstStyle/>
            <a:p>
              <a:r>
                <a:rPr lang="en-IN" sz="1200" b="1" dirty="0">
                  <a:solidFill>
                    <a:srgbClr val="00B0F0"/>
                  </a:solidFill>
                </a:rPr>
                <a:t>Key Features of Azure Blob Storage</a:t>
              </a:r>
            </a:p>
            <a:p>
              <a:pPr marL="171450" indent="-171450">
                <a:buFont typeface="Arial" panose="020B0604020202020204" pitchFamily="34" charset="0"/>
                <a:buChar char="•"/>
              </a:pPr>
              <a:r>
                <a:rPr lang="en-IN" sz="1200" b="1" dirty="0"/>
                <a:t>Block Blobs</a:t>
              </a:r>
              <a:r>
                <a:rPr lang="en-IN" sz="1200" dirty="0"/>
                <a:t>: Ideal for storing text or binary data, such as documents and media files. These blobs are made up of blocks, and you can manage individual blocks, making them </a:t>
              </a:r>
              <a:r>
                <a:rPr lang="en-IN" sz="1200" b="1" dirty="0"/>
                <a:t>suitable for uploading large files </a:t>
              </a:r>
              <a:r>
                <a:rPr lang="en-IN" sz="1200" dirty="0"/>
                <a:t>efficiently.</a:t>
              </a:r>
            </a:p>
            <a:p>
              <a:pPr marL="171450" indent="-171450">
                <a:buFont typeface="Arial" panose="020B0604020202020204" pitchFamily="34" charset="0"/>
                <a:buChar char="•"/>
              </a:pPr>
              <a:r>
                <a:rPr lang="en-IN" sz="1200" b="1" dirty="0"/>
                <a:t>Append Blobs</a:t>
              </a:r>
              <a:r>
                <a:rPr lang="en-IN" sz="1200" dirty="0"/>
                <a:t>: Designed for append-only operations, making them perfect </a:t>
              </a:r>
              <a:r>
                <a:rPr lang="en-IN" sz="1200" b="1" dirty="0"/>
                <a:t>for logging data </a:t>
              </a:r>
              <a:r>
                <a:rPr lang="en-IN" sz="1200" dirty="0"/>
                <a:t>where new data needs to be appended.</a:t>
              </a:r>
            </a:p>
            <a:p>
              <a:pPr marL="171450" indent="-171450">
                <a:buFont typeface="Arial" panose="020B0604020202020204" pitchFamily="34" charset="0"/>
                <a:buChar char="•"/>
              </a:pPr>
              <a:r>
                <a:rPr lang="en-IN" sz="1200" b="1" dirty="0"/>
                <a:t>Page Blobs</a:t>
              </a:r>
              <a:r>
                <a:rPr lang="en-IN" sz="1200" dirty="0"/>
                <a:t>: Used for scenarios requiring </a:t>
              </a:r>
              <a:r>
                <a:rPr lang="en-IN" sz="1200" b="1" dirty="0"/>
                <a:t>frequent read/write operations</a:t>
              </a:r>
              <a:r>
                <a:rPr lang="en-IN" sz="1200" dirty="0"/>
                <a:t>, such as virtual hard drives and Azure VMs.</a:t>
              </a:r>
            </a:p>
          </p:txBody>
        </p:sp>
        <p:cxnSp>
          <p:nvCxnSpPr>
            <p:cNvPr id="17" name="Straight Connector 16">
              <a:extLst>
                <a:ext uri="{FF2B5EF4-FFF2-40B4-BE49-F238E27FC236}">
                  <a16:creationId xmlns:a16="http://schemas.microsoft.com/office/drawing/2014/main" id="{5D77E825-59F0-1AF3-6BFA-D6DD02DD12F0}"/>
                </a:ext>
              </a:extLst>
            </p:cNvPr>
            <p:cNvCxnSpPr>
              <a:cxnSpLocks/>
            </p:cNvCxnSpPr>
            <p:nvPr/>
          </p:nvCxnSpPr>
          <p:spPr>
            <a:xfrm>
              <a:off x="40257" y="4154728"/>
              <a:ext cx="0" cy="0"/>
            </a:xfrm>
            <a:prstGeom prst="line">
              <a:avLst/>
            </a:prstGeom>
          </p:spPr>
          <p:style>
            <a:lnRef idx="2">
              <a:schemeClr val="accent2"/>
            </a:lnRef>
            <a:fillRef idx="0">
              <a:schemeClr val="accent2"/>
            </a:fillRef>
            <a:effectRef idx="1">
              <a:schemeClr val="accent2"/>
            </a:effectRef>
            <a:fontRef idx="minor">
              <a:schemeClr val="tx1"/>
            </a:fontRef>
          </p:style>
        </p:cxnSp>
      </p:grpSp>
      <p:sp>
        <p:nvSpPr>
          <p:cNvPr id="14" name="TextBox 13">
            <a:extLst>
              <a:ext uri="{FF2B5EF4-FFF2-40B4-BE49-F238E27FC236}">
                <a16:creationId xmlns:a16="http://schemas.microsoft.com/office/drawing/2014/main" id="{65744CE6-1ACF-574E-8F56-27092870DA68}"/>
              </a:ext>
            </a:extLst>
          </p:cNvPr>
          <p:cNvSpPr txBox="1"/>
          <p:nvPr/>
        </p:nvSpPr>
        <p:spPr>
          <a:xfrm>
            <a:off x="48881" y="4842566"/>
            <a:ext cx="3194652" cy="1940957"/>
          </a:xfrm>
          <a:prstGeom prst="roundRect">
            <a:avLst/>
          </a:prstGeom>
          <a:noFill/>
          <a:ln>
            <a:solidFill>
              <a:schemeClr val="tx1">
                <a:lumMod val="75000"/>
              </a:schemeClr>
            </a:solidFill>
          </a:ln>
        </p:spPr>
        <p:txBody>
          <a:bodyPr wrap="square" rtlCol="0" anchor="ctr">
            <a:spAutoFit/>
          </a:bodyPr>
          <a:lstStyle/>
          <a:p>
            <a:r>
              <a:rPr lang="en-IN" sz="1200" b="1" dirty="0">
                <a:solidFill>
                  <a:srgbClr val="00B0F0"/>
                </a:solidFill>
              </a:rPr>
              <a:t>Storage Tiers</a:t>
            </a:r>
          </a:p>
          <a:p>
            <a:pPr marL="171450" indent="-171450">
              <a:buFont typeface="Arial" panose="020B0604020202020204" pitchFamily="34" charset="0"/>
              <a:buChar char="•"/>
            </a:pPr>
            <a:r>
              <a:rPr lang="en-IN" sz="1200" b="1" dirty="0"/>
              <a:t>Hot Tier</a:t>
            </a:r>
            <a:r>
              <a:rPr lang="en-IN" sz="1200" dirty="0"/>
              <a:t>: Optimized for data that is accessed frequently.</a:t>
            </a:r>
          </a:p>
          <a:p>
            <a:pPr marL="171450" indent="-171450">
              <a:buFont typeface="Arial" panose="020B0604020202020204" pitchFamily="34" charset="0"/>
              <a:buChar char="•"/>
            </a:pPr>
            <a:r>
              <a:rPr lang="en-IN" sz="1200" b="1" dirty="0"/>
              <a:t>Cool Tier</a:t>
            </a:r>
            <a:r>
              <a:rPr lang="en-IN" sz="1200" dirty="0"/>
              <a:t>: Suitable for data that is infrequently accessed and stored for at least 30 days.</a:t>
            </a:r>
          </a:p>
          <a:p>
            <a:pPr marL="171450" indent="-171450">
              <a:buFont typeface="Arial" panose="020B0604020202020204" pitchFamily="34" charset="0"/>
              <a:buChar char="•"/>
            </a:pPr>
            <a:r>
              <a:rPr lang="en-IN" sz="1200" b="1" dirty="0"/>
              <a:t>Archive Tier</a:t>
            </a:r>
            <a:r>
              <a:rPr lang="en-IN" sz="1200" dirty="0"/>
              <a:t>: Best for data that is rarely accessed and can tolerate high retrieval latency, typically for long-term storage.</a:t>
            </a:r>
          </a:p>
        </p:txBody>
      </p:sp>
      <p:sp>
        <p:nvSpPr>
          <p:cNvPr id="15" name="TextBox 14">
            <a:extLst>
              <a:ext uri="{FF2B5EF4-FFF2-40B4-BE49-F238E27FC236}">
                <a16:creationId xmlns:a16="http://schemas.microsoft.com/office/drawing/2014/main" id="{60B725B8-0163-B8EA-105C-01355A7F7DC5}"/>
              </a:ext>
            </a:extLst>
          </p:cNvPr>
          <p:cNvSpPr txBox="1"/>
          <p:nvPr/>
        </p:nvSpPr>
        <p:spPr>
          <a:xfrm>
            <a:off x="9389362" y="5019198"/>
            <a:ext cx="2694333" cy="1736646"/>
          </a:xfrm>
          <a:prstGeom prst="roundRect">
            <a:avLst/>
          </a:prstGeom>
          <a:noFill/>
          <a:ln>
            <a:solidFill>
              <a:schemeClr val="tx1">
                <a:lumMod val="75000"/>
              </a:schemeClr>
            </a:solidFill>
          </a:ln>
        </p:spPr>
        <p:txBody>
          <a:bodyPr wrap="square" rtlCol="0" anchor="ctr">
            <a:spAutoFit/>
          </a:bodyPr>
          <a:lstStyle/>
          <a:p>
            <a:pPr lvl="0"/>
            <a:r>
              <a:rPr lang="en-IN" sz="1200" b="1" dirty="0">
                <a:solidFill>
                  <a:srgbClr val="00B0F0"/>
                </a:solidFill>
              </a:rPr>
              <a:t>Security</a:t>
            </a:r>
            <a:r>
              <a:rPr lang="en-IN" sz="1200" dirty="0">
                <a:solidFill>
                  <a:srgbClr val="00B0F0"/>
                </a:solidFill>
              </a:rPr>
              <a:t>:</a:t>
            </a:r>
          </a:p>
          <a:p>
            <a:pPr lvl="0"/>
            <a:r>
              <a:rPr lang="en-IN" sz="1200" b="1" dirty="0"/>
              <a:t>Encryption</a:t>
            </a:r>
            <a:r>
              <a:rPr lang="en-IN" sz="1200" dirty="0"/>
              <a:t>: Data is encrypted both at rest and in transit.</a:t>
            </a:r>
          </a:p>
          <a:p>
            <a:pPr lvl="0"/>
            <a:r>
              <a:rPr lang="en-IN" sz="1200" b="1" dirty="0"/>
              <a:t>Access Control</a:t>
            </a:r>
            <a:r>
              <a:rPr lang="en-IN" sz="1200" dirty="0"/>
              <a:t>: Role-based access control (RBAC), shared access signatures (SAS), and other access management features ensure data security.</a:t>
            </a:r>
          </a:p>
        </p:txBody>
      </p:sp>
      <p:sp>
        <p:nvSpPr>
          <p:cNvPr id="21" name="TextBox 20">
            <a:extLst>
              <a:ext uri="{FF2B5EF4-FFF2-40B4-BE49-F238E27FC236}">
                <a16:creationId xmlns:a16="http://schemas.microsoft.com/office/drawing/2014/main" id="{0BF8BEA8-68A6-C042-BF35-1D68F5AAB239}"/>
              </a:ext>
            </a:extLst>
          </p:cNvPr>
          <p:cNvSpPr txBox="1"/>
          <p:nvPr/>
        </p:nvSpPr>
        <p:spPr>
          <a:xfrm>
            <a:off x="6396961" y="5264385"/>
            <a:ext cx="2932980" cy="1532334"/>
          </a:xfrm>
          <a:prstGeom prst="roundRect">
            <a:avLst/>
          </a:prstGeom>
          <a:noFill/>
          <a:ln>
            <a:solidFill>
              <a:schemeClr val="tx1">
                <a:lumMod val="75000"/>
              </a:schemeClr>
            </a:solidFill>
          </a:ln>
        </p:spPr>
        <p:txBody>
          <a:bodyPr wrap="square" rtlCol="0" anchor="ctr">
            <a:spAutoFit/>
          </a:bodyPr>
          <a:lstStyle/>
          <a:p>
            <a:pPr lvl="0"/>
            <a:r>
              <a:rPr lang="en-IN" sz="1200" b="1" dirty="0">
                <a:solidFill>
                  <a:srgbClr val="00B0F0"/>
                </a:solidFill>
              </a:rPr>
              <a:t>Data Management</a:t>
            </a:r>
            <a:r>
              <a:rPr lang="en-IN" sz="1200" dirty="0">
                <a:solidFill>
                  <a:srgbClr val="00B0F0"/>
                </a:solidFill>
              </a:rPr>
              <a:t>:</a:t>
            </a:r>
          </a:p>
          <a:p>
            <a:pPr lvl="0"/>
            <a:r>
              <a:rPr lang="en-IN" sz="1200" b="1" dirty="0"/>
              <a:t>Lifecycle Management</a:t>
            </a:r>
            <a:r>
              <a:rPr lang="en-IN" sz="1200" dirty="0"/>
              <a:t>: Policies can be set to automatically move data between different tiers based on usage.</a:t>
            </a:r>
          </a:p>
          <a:p>
            <a:r>
              <a:rPr lang="en-IN" sz="1200" b="1" dirty="0"/>
              <a:t>Soft Delete</a:t>
            </a:r>
            <a:r>
              <a:rPr lang="en-IN" sz="1200" dirty="0"/>
              <a:t>: Allows you to recover blobs that were accidentally deleted within a specified retention period</a:t>
            </a:r>
          </a:p>
        </p:txBody>
      </p:sp>
      <p:sp>
        <p:nvSpPr>
          <p:cNvPr id="22" name="TextBox 21">
            <a:extLst>
              <a:ext uri="{FF2B5EF4-FFF2-40B4-BE49-F238E27FC236}">
                <a16:creationId xmlns:a16="http://schemas.microsoft.com/office/drawing/2014/main" id="{69334619-FEFE-E2B4-2DB4-751C9387E7A8}"/>
              </a:ext>
            </a:extLst>
          </p:cNvPr>
          <p:cNvSpPr txBox="1"/>
          <p:nvPr/>
        </p:nvSpPr>
        <p:spPr>
          <a:xfrm>
            <a:off x="3347049" y="4917043"/>
            <a:ext cx="2990490" cy="1940957"/>
          </a:xfrm>
          <a:prstGeom prst="roundRect">
            <a:avLst/>
          </a:prstGeom>
          <a:noFill/>
          <a:ln>
            <a:solidFill>
              <a:schemeClr val="tx1">
                <a:lumMod val="75000"/>
              </a:schemeClr>
            </a:solidFill>
          </a:ln>
        </p:spPr>
        <p:txBody>
          <a:bodyPr wrap="square" rtlCol="0" anchor="ctr">
            <a:spAutoFit/>
          </a:bodyPr>
          <a:lstStyle/>
          <a:p>
            <a:pPr lvl="0"/>
            <a:r>
              <a:rPr lang="en-IN" sz="1200" b="1" dirty="0">
                <a:solidFill>
                  <a:srgbClr val="00B0F0"/>
                </a:solidFill>
              </a:rPr>
              <a:t>Integration</a:t>
            </a:r>
            <a:endParaRPr lang="en-IN" sz="1200" dirty="0">
              <a:solidFill>
                <a:srgbClr val="00B0F0"/>
              </a:solidFill>
            </a:endParaRPr>
          </a:p>
          <a:p>
            <a:pPr lvl="0"/>
            <a:r>
              <a:rPr lang="en-IN" sz="1200" b="1" dirty="0"/>
              <a:t>Integration with Other Services</a:t>
            </a:r>
            <a:r>
              <a:rPr lang="en-IN" sz="1200" dirty="0"/>
              <a:t>: Seamlessly integrates with services like Azure Data Factory, Azure Machine Learning, and Azure Synapse Analytics.</a:t>
            </a:r>
          </a:p>
          <a:p>
            <a:r>
              <a:rPr lang="en-IN" sz="1200" b="1" dirty="0"/>
              <a:t>APIs and SDKs</a:t>
            </a:r>
            <a:r>
              <a:rPr lang="en-IN" sz="1200" dirty="0"/>
              <a:t>: Supports a wide range of APIs and SDKs for various programming languages, making it easy to incorporate into your applications</a:t>
            </a:r>
          </a:p>
        </p:txBody>
      </p:sp>
      <p:sp>
        <p:nvSpPr>
          <p:cNvPr id="23" name="Rectangle 22">
            <a:extLst>
              <a:ext uri="{FF2B5EF4-FFF2-40B4-BE49-F238E27FC236}">
                <a16:creationId xmlns:a16="http://schemas.microsoft.com/office/drawing/2014/main" id="{D2F7BD5D-D6F1-7627-288B-C6AD787F4107}"/>
              </a:ext>
            </a:extLst>
          </p:cNvPr>
          <p:cNvSpPr/>
          <p:nvPr/>
        </p:nvSpPr>
        <p:spPr>
          <a:xfrm>
            <a:off x="10587487" y="1345721"/>
            <a:ext cx="1555629" cy="428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24" name="TextBox 23">
            <a:extLst>
              <a:ext uri="{FF2B5EF4-FFF2-40B4-BE49-F238E27FC236}">
                <a16:creationId xmlns:a16="http://schemas.microsoft.com/office/drawing/2014/main" id="{20006F24-A619-5604-1FFC-05870ABF66A9}"/>
              </a:ext>
            </a:extLst>
          </p:cNvPr>
          <p:cNvSpPr txBox="1"/>
          <p:nvPr/>
        </p:nvSpPr>
        <p:spPr>
          <a:xfrm>
            <a:off x="10644996" y="1270958"/>
            <a:ext cx="1391729" cy="461665"/>
          </a:xfrm>
          <a:prstGeom prst="rect">
            <a:avLst/>
          </a:prstGeom>
          <a:noFill/>
        </p:spPr>
        <p:txBody>
          <a:bodyPr wrap="square" rtlCol="0">
            <a:spAutoFit/>
          </a:bodyPr>
          <a:lstStyle/>
          <a:p>
            <a:r>
              <a:rPr lang="en-US" sz="2400" dirty="0" err="1">
                <a:solidFill>
                  <a:srgbClr val="00B0F0"/>
                </a:solidFill>
              </a:rPr>
              <a:t>Cntd</a:t>
            </a:r>
            <a:r>
              <a:rPr lang="en-US" sz="2400" dirty="0">
                <a:solidFill>
                  <a:srgbClr val="00B0F0"/>
                </a:solidFill>
              </a:rPr>
              <a:t>..</a:t>
            </a:r>
            <a:endParaRPr lang="en-IN" sz="2400" dirty="0">
              <a:solidFill>
                <a:srgbClr val="00B0F0"/>
              </a:solidFill>
            </a:endParaRPr>
          </a:p>
        </p:txBody>
      </p:sp>
    </p:spTree>
    <p:extLst>
      <p:ext uri="{BB962C8B-B14F-4D97-AF65-F5344CB8AC3E}">
        <p14:creationId xmlns:p14="http://schemas.microsoft.com/office/powerpoint/2010/main" val="428508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DE53-0506-3A6F-4964-88AB322B8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33C10-9970-9F99-D97C-97CE886866BF}"/>
              </a:ext>
            </a:extLst>
          </p:cNvPr>
          <p:cNvSpPr>
            <a:spLocks noGrp="1"/>
          </p:cNvSpPr>
          <p:nvPr>
            <p:ph type="title"/>
          </p:nvPr>
        </p:nvSpPr>
        <p:spPr/>
        <p:txBody>
          <a:bodyPr/>
          <a:lstStyle/>
          <a:p>
            <a:r>
              <a:rPr lang="en-IN" dirty="0"/>
              <a:t>storage account</a:t>
            </a:r>
            <a:endParaRPr lang="en-IN" b="1" dirty="0"/>
          </a:p>
        </p:txBody>
      </p:sp>
      <p:sp>
        <p:nvSpPr>
          <p:cNvPr id="4" name="TextBox 3">
            <a:extLst>
              <a:ext uri="{FF2B5EF4-FFF2-40B4-BE49-F238E27FC236}">
                <a16:creationId xmlns:a16="http://schemas.microsoft.com/office/drawing/2014/main" id="{2845C4A3-04A1-6CF1-647B-DF2C59146727}"/>
              </a:ext>
            </a:extLst>
          </p:cNvPr>
          <p:cNvSpPr txBox="1"/>
          <p:nvPr/>
        </p:nvSpPr>
        <p:spPr>
          <a:xfrm>
            <a:off x="0" y="1874376"/>
            <a:ext cx="3927894" cy="1940957"/>
          </a:xfrm>
          <a:prstGeom prst="roundRect">
            <a:avLst/>
          </a:prstGeom>
          <a:noFill/>
          <a:ln>
            <a:solidFill>
              <a:schemeClr val="tx1">
                <a:lumMod val="75000"/>
              </a:schemeClr>
            </a:solidFill>
          </a:ln>
        </p:spPr>
        <p:txBody>
          <a:bodyPr wrap="square" rtlCol="0" anchor="ctr">
            <a:spAutoFit/>
          </a:bodyPr>
          <a:lstStyle/>
          <a:p>
            <a:r>
              <a:rPr lang="en-IN" sz="1200" b="1" dirty="0">
                <a:solidFill>
                  <a:srgbClr val="00B0F0"/>
                </a:solidFill>
              </a:rPr>
              <a:t>Example Use Cases</a:t>
            </a:r>
            <a:endParaRPr lang="en-IN" sz="1200" dirty="0">
              <a:solidFill>
                <a:srgbClr val="00B0F0"/>
              </a:solidFill>
            </a:endParaRPr>
          </a:p>
          <a:p>
            <a:pPr lvl="0"/>
            <a:r>
              <a:rPr lang="en-IN" sz="1200" b="1" dirty="0"/>
              <a:t>Backup and Restore</a:t>
            </a:r>
            <a:r>
              <a:rPr lang="en-IN" sz="1200" dirty="0"/>
              <a:t>: Store backups of your databases and applications.</a:t>
            </a:r>
          </a:p>
          <a:p>
            <a:pPr lvl="0"/>
            <a:r>
              <a:rPr lang="en-IN" sz="1200" b="1" dirty="0"/>
              <a:t>Big Data and Analytics</a:t>
            </a:r>
            <a:r>
              <a:rPr lang="en-IN" sz="1200" dirty="0"/>
              <a:t>: Store large datasets for processing and analysis.</a:t>
            </a:r>
          </a:p>
          <a:p>
            <a:pPr lvl="0"/>
            <a:r>
              <a:rPr lang="en-IN" sz="1200" b="1" dirty="0"/>
              <a:t>Content Distribution</a:t>
            </a:r>
            <a:r>
              <a:rPr lang="en-IN" sz="1200" dirty="0"/>
              <a:t>: Efficiently deliver images, videos, and other media content.</a:t>
            </a:r>
          </a:p>
          <a:p>
            <a:pPr lvl="0"/>
            <a:r>
              <a:rPr lang="en-IN" sz="1200" b="1" dirty="0"/>
              <a:t>Logging and Monitoring</a:t>
            </a:r>
            <a:r>
              <a:rPr lang="en-IN" sz="1200" dirty="0"/>
              <a:t>: Collect and archive logs from various services and applications.</a:t>
            </a:r>
          </a:p>
        </p:txBody>
      </p:sp>
      <p:sp>
        <p:nvSpPr>
          <p:cNvPr id="5" name="TextBox 4">
            <a:extLst>
              <a:ext uri="{FF2B5EF4-FFF2-40B4-BE49-F238E27FC236}">
                <a16:creationId xmlns:a16="http://schemas.microsoft.com/office/drawing/2014/main" id="{7574961B-0859-83BE-EA21-BB62EBC55F44}"/>
              </a:ext>
            </a:extLst>
          </p:cNvPr>
          <p:cNvSpPr txBox="1"/>
          <p:nvPr/>
        </p:nvSpPr>
        <p:spPr>
          <a:xfrm>
            <a:off x="0" y="3861253"/>
            <a:ext cx="3991155" cy="3166823"/>
          </a:xfrm>
          <a:prstGeom prst="roundRect">
            <a:avLst/>
          </a:prstGeom>
          <a:noFill/>
          <a:ln>
            <a:solidFill>
              <a:schemeClr val="tx1">
                <a:lumMod val="75000"/>
              </a:schemeClr>
            </a:solidFill>
          </a:ln>
        </p:spPr>
        <p:txBody>
          <a:bodyPr wrap="square" rtlCol="0">
            <a:spAutoFit/>
          </a:bodyPr>
          <a:lstStyle/>
          <a:p>
            <a:r>
              <a:rPr lang="en-IN" sz="1200" b="1" dirty="0">
                <a:solidFill>
                  <a:srgbClr val="00B0F0"/>
                </a:solidFill>
              </a:rPr>
              <a:t>Steps to Recover a Soft-Deleted Blob</a:t>
            </a:r>
            <a:endParaRPr lang="en-IN" sz="1200" dirty="0">
              <a:solidFill>
                <a:srgbClr val="00B0F0"/>
              </a:solidFill>
            </a:endParaRPr>
          </a:p>
          <a:p>
            <a:pPr lvl="0"/>
            <a:r>
              <a:rPr lang="en-IN" sz="1200" b="1" dirty="0"/>
              <a:t>Enable Soft Delete</a:t>
            </a:r>
            <a:r>
              <a:rPr lang="en-IN" sz="1200" dirty="0"/>
              <a:t>:</a:t>
            </a:r>
          </a:p>
          <a:p>
            <a:pPr lvl="0"/>
            <a:r>
              <a:rPr lang="en-IN" sz="1200" dirty="0"/>
              <a:t>Make sure soft delete is enabled for your storage account. You can enable it through the Azure portal, PowerShell, or Azure CLI1.</a:t>
            </a:r>
          </a:p>
          <a:p>
            <a:pPr lvl="0"/>
            <a:r>
              <a:rPr lang="en-IN" sz="1200" b="1" dirty="0"/>
              <a:t>View Soft-Deleted Blobs</a:t>
            </a:r>
            <a:r>
              <a:rPr lang="en-IN" sz="1200" dirty="0"/>
              <a:t>:</a:t>
            </a:r>
          </a:p>
          <a:p>
            <a:pPr marL="171450" lvl="0" indent="-171450">
              <a:buFont typeface="Arial" panose="020B0604020202020204" pitchFamily="34" charset="0"/>
              <a:buChar char="•"/>
            </a:pPr>
            <a:r>
              <a:rPr lang="en-IN" sz="1200" dirty="0"/>
              <a:t>Navigate to the Azure portal and go to your storage account.</a:t>
            </a:r>
          </a:p>
          <a:p>
            <a:pPr marL="171450" lvl="0" indent="-171450">
              <a:buFont typeface="Arial" panose="020B0604020202020204" pitchFamily="34" charset="0"/>
              <a:buChar char="•"/>
            </a:pPr>
            <a:r>
              <a:rPr lang="en-IN" sz="1200" dirty="0"/>
              <a:t>Go to the </a:t>
            </a:r>
            <a:r>
              <a:rPr lang="en-IN" sz="1200" b="1" dirty="0"/>
              <a:t>Blob service</a:t>
            </a:r>
            <a:r>
              <a:rPr lang="en-IN" sz="1200" dirty="0"/>
              <a:t> section and select the container where the blob was deleted.</a:t>
            </a:r>
          </a:p>
          <a:p>
            <a:pPr marL="171450" lvl="0" indent="-171450">
              <a:buFont typeface="Arial" panose="020B0604020202020204" pitchFamily="34" charset="0"/>
              <a:buChar char="•"/>
            </a:pPr>
            <a:r>
              <a:rPr lang="en-IN" sz="1200" dirty="0"/>
              <a:t>Toggle the </a:t>
            </a:r>
            <a:r>
              <a:rPr lang="en-IN" sz="1200" b="1" dirty="0"/>
              <a:t>Show deleted blobs</a:t>
            </a:r>
            <a:r>
              <a:rPr lang="en-IN" sz="1200" dirty="0"/>
              <a:t> option to view the list of soft-deleted blobs.</a:t>
            </a:r>
          </a:p>
          <a:p>
            <a:pPr lvl="0"/>
            <a:r>
              <a:rPr lang="en-IN" sz="1200" b="1" dirty="0"/>
              <a:t>Restore the Blob</a:t>
            </a:r>
            <a:r>
              <a:rPr lang="en-IN" sz="1200" dirty="0"/>
              <a:t>:</a:t>
            </a:r>
          </a:p>
          <a:p>
            <a:pPr marL="171450" lvl="0" indent="-171450">
              <a:buFont typeface="Arial" panose="020B0604020202020204" pitchFamily="34" charset="0"/>
              <a:buChar char="•"/>
            </a:pPr>
            <a:r>
              <a:rPr lang="en-IN" sz="1200" dirty="0"/>
              <a:t>Select the soft-deleted blob from the list.</a:t>
            </a:r>
          </a:p>
          <a:p>
            <a:pPr marL="171450" lvl="0" indent="-171450">
              <a:buFont typeface="Arial" panose="020B0604020202020204" pitchFamily="34" charset="0"/>
              <a:buChar char="•"/>
            </a:pPr>
            <a:r>
              <a:rPr lang="en-IN" sz="1200" dirty="0"/>
              <a:t>Click on the </a:t>
            </a:r>
            <a:r>
              <a:rPr lang="en-IN" sz="1200" b="1" dirty="0"/>
              <a:t>Undelete</a:t>
            </a:r>
            <a:r>
              <a:rPr lang="en-IN" sz="1200" dirty="0"/>
              <a:t> button to restore the blob.</a:t>
            </a:r>
          </a:p>
        </p:txBody>
      </p:sp>
      <p:sp>
        <p:nvSpPr>
          <p:cNvPr id="23" name="Rectangle 22">
            <a:extLst>
              <a:ext uri="{FF2B5EF4-FFF2-40B4-BE49-F238E27FC236}">
                <a16:creationId xmlns:a16="http://schemas.microsoft.com/office/drawing/2014/main" id="{336D07FF-FB9C-76CA-BDA1-6E75ADAF3270}"/>
              </a:ext>
            </a:extLst>
          </p:cNvPr>
          <p:cNvSpPr/>
          <p:nvPr/>
        </p:nvSpPr>
        <p:spPr>
          <a:xfrm>
            <a:off x="10587487" y="1345721"/>
            <a:ext cx="1555629" cy="428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24" name="TextBox 23">
            <a:extLst>
              <a:ext uri="{FF2B5EF4-FFF2-40B4-BE49-F238E27FC236}">
                <a16:creationId xmlns:a16="http://schemas.microsoft.com/office/drawing/2014/main" id="{6BD2AAFC-D941-EC4B-5F29-D842EC805CE5}"/>
              </a:ext>
            </a:extLst>
          </p:cNvPr>
          <p:cNvSpPr txBox="1"/>
          <p:nvPr/>
        </p:nvSpPr>
        <p:spPr>
          <a:xfrm>
            <a:off x="10644996" y="1270958"/>
            <a:ext cx="1391729" cy="400110"/>
          </a:xfrm>
          <a:prstGeom prst="rect">
            <a:avLst/>
          </a:prstGeom>
          <a:noFill/>
        </p:spPr>
        <p:txBody>
          <a:bodyPr wrap="square" rtlCol="0">
            <a:spAutoFit/>
          </a:bodyPr>
          <a:lstStyle/>
          <a:p>
            <a:r>
              <a:rPr lang="en-US" sz="1400" dirty="0">
                <a:solidFill>
                  <a:srgbClr val="00B0F0"/>
                </a:solidFill>
              </a:rPr>
              <a:t>Advanced tab</a:t>
            </a:r>
            <a:r>
              <a:rPr lang="en-US" sz="2000" dirty="0">
                <a:solidFill>
                  <a:srgbClr val="00B0F0"/>
                </a:solidFill>
              </a:rPr>
              <a:t>..</a:t>
            </a:r>
            <a:endParaRPr lang="en-IN" sz="2000" dirty="0">
              <a:solidFill>
                <a:srgbClr val="00B0F0"/>
              </a:solidFill>
            </a:endParaRPr>
          </a:p>
        </p:txBody>
      </p:sp>
      <p:sp>
        <p:nvSpPr>
          <p:cNvPr id="25" name="TextBox 24">
            <a:extLst>
              <a:ext uri="{FF2B5EF4-FFF2-40B4-BE49-F238E27FC236}">
                <a16:creationId xmlns:a16="http://schemas.microsoft.com/office/drawing/2014/main" id="{675D0359-6B94-279C-BF9A-85C2F6778D29}"/>
              </a:ext>
            </a:extLst>
          </p:cNvPr>
          <p:cNvSpPr txBox="1"/>
          <p:nvPr/>
        </p:nvSpPr>
        <p:spPr>
          <a:xfrm>
            <a:off x="4077418" y="1828456"/>
            <a:ext cx="8114581" cy="5001369"/>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100" b="1" dirty="0"/>
              <a:t>Requiring secure transfer for REST API operations</a:t>
            </a:r>
            <a:r>
              <a:rPr lang="en-IN" sz="1100" dirty="0"/>
              <a:t> :  Azure Blob Storage is an important security measure to ensure that all data transmitted to and from the storage account is encrypted in transit. This can prevent data from being intercepted by unauthorized parties. </a:t>
            </a:r>
          </a:p>
          <a:p>
            <a:pPr marL="171450" indent="-171450">
              <a:buFont typeface="Arial" panose="020B0604020202020204" pitchFamily="34" charset="0"/>
              <a:buChar char="•"/>
            </a:pPr>
            <a:r>
              <a:rPr lang="en-IN" sz="1100" b="1" dirty="0"/>
              <a:t>Enabling public access on a container</a:t>
            </a:r>
            <a:r>
              <a:rPr lang="en-IN" sz="1100" dirty="0"/>
              <a:t>: in Azure Blob Storage can be useful for several reasons, especially when you need to share data widely without the need for authentication. By enabling public access, you can efficiently share data with a broad audience while simplifying the access process. However, it's essential to balance the need for accessibility with appropriate security measures to protect sensitive information.</a:t>
            </a:r>
          </a:p>
          <a:p>
            <a:pPr marL="171450" indent="-171450">
              <a:buFont typeface="Arial" panose="020B0604020202020204" pitchFamily="34" charset="0"/>
              <a:buChar char="•"/>
            </a:pPr>
            <a:r>
              <a:rPr lang="en-IN" sz="1100" b="1" dirty="0"/>
              <a:t>Enable storage account key access</a:t>
            </a:r>
            <a:r>
              <a:rPr lang="en-IN" sz="1100" dirty="0"/>
              <a:t> in Azure, you can manage the access keys of your storage account to allow applications to access your Azure Storage resources.</a:t>
            </a:r>
          </a:p>
          <a:p>
            <a:pPr marL="171450" indent="-171450">
              <a:buFont typeface="Arial" panose="020B0604020202020204" pitchFamily="34" charset="0"/>
              <a:buChar char="•"/>
            </a:pPr>
            <a:r>
              <a:rPr lang="en-IN" sz="1100" b="1" dirty="0"/>
              <a:t>Default to Azure Active Directory (AAD) authorization in the Azure Portal: </a:t>
            </a:r>
            <a:r>
              <a:rPr lang="en-IN" sz="1100" dirty="0"/>
              <a:t>Benefits of Defaulting to AAD Authorization</a:t>
            </a:r>
          </a:p>
          <a:p>
            <a:pPr marL="171450" lvl="0" indent="-171450">
              <a:buFont typeface="Arial" panose="020B0604020202020204" pitchFamily="34" charset="0"/>
              <a:buChar char="•"/>
            </a:pPr>
            <a:r>
              <a:rPr lang="en-IN" sz="1100" dirty="0"/>
              <a:t>Enhanced Security: Using AAD for authorization provides better security compared to using access keys.</a:t>
            </a:r>
          </a:p>
          <a:p>
            <a:pPr marL="171450" lvl="0" indent="-171450">
              <a:buFont typeface="Arial" panose="020B0604020202020204" pitchFamily="34" charset="0"/>
              <a:buChar char="•"/>
            </a:pPr>
            <a:r>
              <a:rPr lang="en-IN" sz="1100" dirty="0"/>
              <a:t>Simplified Access Management: Easier to manage permissions and access control using Azure RBAC (Role-Based Access Control).</a:t>
            </a:r>
          </a:p>
          <a:p>
            <a:pPr marL="171450" lvl="0" indent="-171450">
              <a:buFont typeface="Arial" panose="020B0604020202020204" pitchFamily="34" charset="0"/>
              <a:buChar char="•"/>
            </a:pPr>
            <a:r>
              <a:rPr lang="en-IN" sz="1100" dirty="0"/>
              <a:t>Compliance: Helps meet regulatory and compliance requirements by using modern authentication methods.</a:t>
            </a:r>
          </a:p>
          <a:p>
            <a:pPr marL="171450" indent="-171450">
              <a:buFont typeface="Arial" panose="020B0604020202020204" pitchFamily="34" charset="0"/>
              <a:buChar char="•"/>
            </a:pPr>
            <a:r>
              <a:rPr lang="en-IN" sz="1100" dirty="0"/>
              <a:t>By enabling this setting, you ensure that all data access operations in the Azure Portal default to using AAD, enhancing security and simplifying access management.	</a:t>
            </a:r>
          </a:p>
          <a:p>
            <a:pPr marL="171450" indent="-171450">
              <a:buFont typeface="Arial" panose="020B0604020202020204" pitchFamily="34" charset="0"/>
              <a:buChar char="•"/>
            </a:pPr>
            <a:r>
              <a:rPr lang="en-IN" sz="1100" dirty="0"/>
              <a:t>The </a:t>
            </a:r>
            <a:r>
              <a:rPr lang="en-IN" sz="1100" b="1" dirty="0"/>
              <a:t>Permitted Scope for Copy Operations</a:t>
            </a:r>
            <a:r>
              <a:rPr lang="en-IN" sz="1100" dirty="0"/>
              <a:t> feature in Azure Blob Storage allows you to restrict the source accounts from which data can be copied to your destination account.</a:t>
            </a:r>
          </a:p>
          <a:p>
            <a:pPr marL="171450" indent="-171450">
              <a:buFont typeface="Arial" panose="020B0604020202020204" pitchFamily="34" charset="0"/>
              <a:buChar char="•"/>
            </a:pPr>
            <a:r>
              <a:rPr lang="en-IN" sz="1100" b="1" dirty="0"/>
              <a:t>Allowed Copy Scope Options</a:t>
            </a:r>
            <a:endParaRPr lang="en-IN" sz="1100" dirty="0"/>
          </a:p>
          <a:p>
            <a:pPr marL="171450" lvl="0" indent="-171450">
              <a:buFont typeface="Arial" panose="020B0604020202020204" pitchFamily="34" charset="0"/>
              <a:buChar char="•"/>
            </a:pPr>
            <a:r>
              <a:rPr lang="en-IN" sz="1100" b="1" dirty="0"/>
              <a:t>(null) (default)</a:t>
            </a:r>
            <a:r>
              <a:rPr lang="en-IN" sz="1100" dirty="0"/>
              <a:t>: Allows copying from any storage account to the destination account.</a:t>
            </a:r>
          </a:p>
          <a:p>
            <a:pPr marL="171450" lvl="0" indent="-171450">
              <a:buFont typeface="Arial" panose="020B0604020202020204" pitchFamily="34" charset="0"/>
              <a:buChar char="•"/>
            </a:pPr>
            <a:r>
              <a:rPr lang="en-IN" sz="1100" b="1" dirty="0"/>
              <a:t>Microsoft Entra ID</a:t>
            </a:r>
            <a:r>
              <a:rPr lang="en-IN" sz="1100" dirty="0"/>
              <a:t>: Permits copying only from accounts within the same Microsoft Entra tenant as the destination account.</a:t>
            </a:r>
          </a:p>
          <a:p>
            <a:pPr marL="171450" lvl="0" indent="-171450">
              <a:buFont typeface="Arial" panose="020B0604020202020204" pitchFamily="34" charset="0"/>
              <a:buChar char="•"/>
            </a:pPr>
            <a:r>
              <a:rPr lang="en-IN" sz="1100" b="1" dirty="0" err="1"/>
              <a:t>PrivateLink</a:t>
            </a:r>
            <a:r>
              <a:rPr lang="en-IN" sz="1100" dirty="0"/>
              <a:t>: Permits copying only from storage accounts that have private links to the same virtual network as the destination account.</a:t>
            </a:r>
          </a:p>
          <a:p>
            <a:pPr marL="171450" indent="-171450">
              <a:buFont typeface="Arial" panose="020B0604020202020204" pitchFamily="34" charset="0"/>
              <a:buChar char="•"/>
            </a:pPr>
            <a:r>
              <a:rPr lang="en-IN" sz="1100" b="1" dirty="0"/>
              <a:t>Enable cross-tenant replication:</a:t>
            </a:r>
            <a:r>
              <a:rPr lang="en-IN" sz="1100" dirty="0"/>
              <a:t> </a:t>
            </a:r>
            <a:r>
              <a:rPr lang="en-IN" sz="1100" b="1" dirty="0"/>
              <a:t> </a:t>
            </a:r>
            <a:r>
              <a:rPr lang="en-IN" sz="1100" dirty="0"/>
              <a:t>Create Replication Policy:</a:t>
            </a:r>
          </a:p>
          <a:p>
            <a:pPr marL="171450" lvl="0" indent="-171450">
              <a:buFont typeface="Arial" panose="020B0604020202020204" pitchFamily="34" charset="0"/>
              <a:buChar char="•"/>
            </a:pPr>
            <a:r>
              <a:rPr lang="en-IN" sz="1100" dirty="0"/>
              <a:t>Click on Create replication rules.</a:t>
            </a:r>
          </a:p>
          <a:p>
            <a:pPr marL="171450" lvl="0" indent="-171450">
              <a:buFont typeface="Arial" panose="020B0604020202020204" pitchFamily="34" charset="0"/>
              <a:buChar char="•"/>
            </a:pPr>
            <a:r>
              <a:rPr lang="en-IN" sz="1100" dirty="0"/>
              <a:t>Select the destination subscription and destination storage account.</a:t>
            </a:r>
          </a:p>
          <a:p>
            <a:pPr marL="171450" lvl="0" indent="-171450">
              <a:buFont typeface="Arial" panose="020B0604020202020204" pitchFamily="34" charset="0"/>
              <a:buChar char="•"/>
            </a:pPr>
            <a:r>
              <a:rPr lang="en-IN" sz="1100" dirty="0"/>
              <a:t>In the Container pair details section, select a source container from the source account and a destination container from the destination account.</a:t>
            </a:r>
          </a:p>
          <a:p>
            <a:pPr marL="171450" indent="-171450">
              <a:buFont typeface="Arial" panose="020B0604020202020204" pitchFamily="34" charset="0"/>
              <a:buChar char="•"/>
            </a:pPr>
            <a:r>
              <a:rPr lang="en-IN" sz="1100" dirty="0"/>
              <a:t>Configure Replication Rules: Specify the rules for replication, such as which block blobs in the source container will be replicated to the destination container.</a:t>
            </a:r>
          </a:p>
          <a:p>
            <a:pPr marL="171450" indent="-171450">
              <a:buFont typeface="Arial" panose="020B0604020202020204" pitchFamily="34" charset="0"/>
              <a:buChar char="•"/>
            </a:pPr>
            <a:r>
              <a:rPr lang="en-IN" sz="1100" dirty="0"/>
              <a:t> Save: Click on Save to apply the replication policy</a:t>
            </a:r>
          </a:p>
        </p:txBody>
      </p:sp>
    </p:spTree>
    <p:extLst>
      <p:ext uri="{BB962C8B-B14F-4D97-AF65-F5344CB8AC3E}">
        <p14:creationId xmlns:p14="http://schemas.microsoft.com/office/powerpoint/2010/main" val="106887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7AE7-4E38-C3E1-AE90-4D356F91A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B4B78-C053-E3D6-7525-D7EE91F508B0}"/>
              </a:ext>
            </a:extLst>
          </p:cNvPr>
          <p:cNvSpPr>
            <a:spLocks noGrp="1"/>
          </p:cNvSpPr>
          <p:nvPr>
            <p:ph type="title"/>
          </p:nvPr>
        </p:nvSpPr>
        <p:spPr/>
        <p:txBody>
          <a:bodyPr/>
          <a:lstStyle/>
          <a:p>
            <a:r>
              <a:rPr lang="en-IN" dirty="0"/>
              <a:t>storage account</a:t>
            </a:r>
            <a:endParaRPr lang="en-IN" b="1" dirty="0"/>
          </a:p>
        </p:txBody>
      </p:sp>
      <p:sp>
        <p:nvSpPr>
          <p:cNvPr id="4" name="TextBox 3">
            <a:extLst>
              <a:ext uri="{FF2B5EF4-FFF2-40B4-BE49-F238E27FC236}">
                <a16:creationId xmlns:a16="http://schemas.microsoft.com/office/drawing/2014/main" id="{8DD9A1B3-CA44-D886-95F6-0C96730E0B4B}"/>
              </a:ext>
            </a:extLst>
          </p:cNvPr>
          <p:cNvSpPr txBox="1"/>
          <p:nvPr/>
        </p:nvSpPr>
        <p:spPr>
          <a:xfrm>
            <a:off x="0" y="1874376"/>
            <a:ext cx="3927894" cy="1940957"/>
          </a:xfrm>
          <a:prstGeom prst="roundRect">
            <a:avLst/>
          </a:prstGeom>
          <a:noFill/>
          <a:ln>
            <a:solidFill>
              <a:schemeClr val="tx1">
                <a:lumMod val="75000"/>
              </a:schemeClr>
            </a:solidFill>
          </a:ln>
        </p:spPr>
        <p:txBody>
          <a:bodyPr wrap="square" rtlCol="0" anchor="ctr">
            <a:spAutoFit/>
          </a:bodyPr>
          <a:lstStyle/>
          <a:p>
            <a:r>
              <a:rPr lang="en-IN" sz="1200" b="1" dirty="0">
                <a:solidFill>
                  <a:srgbClr val="00B0F0"/>
                </a:solidFill>
              </a:rPr>
              <a:t>Example Use Cases</a:t>
            </a:r>
            <a:endParaRPr lang="en-IN" sz="1200" dirty="0">
              <a:solidFill>
                <a:srgbClr val="00B0F0"/>
              </a:solidFill>
            </a:endParaRPr>
          </a:p>
          <a:p>
            <a:pPr lvl="0"/>
            <a:r>
              <a:rPr lang="en-IN" sz="1200" b="1" dirty="0"/>
              <a:t>Backup and Restore</a:t>
            </a:r>
            <a:r>
              <a:rPr lang="en-IN" sz="1200" dirty="0"/>
              <a:t>: Store backups of your databases and applications.</a:t>
            </a:r>
          </a:p>
          <a:p>
            <a:pPr lvl="0"/>
            <a:r>
              <a:rPr lang="en-IN" sz="1200" b="1" dirty="0"/>
              <a:t>Big Data and Analytics</a:t>
            </a:r>
            <a:r>
              <a:rPr lang="en-IN" sz="1200" dirty="0"/>
              <a:t>: Store large datasets for processing and analysis.</a:t>
            </a:r>
          </a:p>
          <a:p>
            <a:pPr lvl="0"/>
            <a:r>
              <a:rPr lang="en-IN" sz="1200" b="1" dirty="0"/>
              <a:t>Content Distribution</a:t>
            </a:r>
            <a:r>
              <a:rPr lang="en-IN" sz="1200" dirty="0"/>
              <a:t>: Efficiently deliver images, videos, and other media content.</a:t>
            </a:r>
          </a:p>
          <a:p>
            <a:pPr lvl="0"/>
            <a:r>
              <a:rPr lang="en-IN" sz="1200" b="1" dirty="0"/>
              <a:t>Logging and Monitoring</a:t>
            </a:r>
            <a:r>
              <a:rPr lang="en-IN" sz="1200" dirty="0"/>
              <a:t>: Collect and archive logs from various services and applications.</a:t>
            </a:r>
          </a:p>
        </p:txBody>
      </p:sp>
      <p:sp>
        <p:nvSpPr>
          <p:cNvPr id="5" name="TextBox 4">
            <a:extLst>
              <a:ext uri="{FF2B5EF4-FFF2-40B4-BE49-F238E27FC236}">
                <a16:creationId xmlns:a16="http://schemas.microsoft.com/office/drawing/2014/main" id="{C44067F2-1F3F-19E9-C74A-386497A3EF37}"/>
              </a:ext>
            </a:extLst>
          </p:cNvPr>
          <p:cNvSpPr txBox="1"/>
          <p:nvPr/>
        </p:nvSpPr>
        <p:spPr>
          <a:xfrm>
            <a:off x="0" y="3861253"/>
            <a:ext cx="3991155" cy="3166823"/>
          </a:xfrm>
          <a:prstGeom prst="roundRect">
            <a:avLst/>
          </a:prstGeom>
          <a:noFill/>
          <a:ln>
            <a:solidFill>
              <a:schemeClr val="tx1">
                <a:lumMod val="75000"/>
              </a:schemeClr>
            </a:solidFill>
          </a:ln>
        </p:spPr>
        <p:txBody>
          <a:bodyPr wrap="square" rtlCol="0">
            <a:spAutoFit/>
          </a:bodyPr>
          <a:lstStyle/>
          <a:p>
            <a:r>
              <a:rPr lang="en-IN" sz="1200" b="1" dirty="0">
                <a:solidFill>
                  <a:srgbClr val="00B0F0"/>
                </a:solidFill>
              </a:rPr>
              <a:t>Steps to Recover a Soft-Deleted Blob</a:t>
            </a:r>
            <a:endParaRPr lang="en-IN" sz="1200" dirty="0">
              <a:solidFill>
                <a:srgbClr val="00B0F0"/>
              </a:solidFill>
            </a:endParaRPr>
          </a:p>
          <a:p>
            <a:pPr lvl="0"/>
            <a:r>
              <a:rPr lang="en-IN" sz="1200" b="1" dirty="0"/>
              <a:t>Enable Soft Delete</a:t>
            </a:r>
            <a:r>
              <a:rPr lang="en-IN" sz="1200" dirty="0"/>
              <a:t>:</a:t>
            </a:r>
          </a:p>
          <a:p>
            <a:pPr lvl="0"/>
            <a:r>
              <a:rPr lang="en-IN" sz="1200" dirty="0"/>
              <a:t>Make sure soft delete is enabled for your storage account. You can enable it through the Azure portal, PowerShell, or Azure CLI1.</a:t>
            </a:r>
          </a:p>
          <a:p>
            <a:pPr lvl="0"/>
            <a:r>
              <a:rPr lang="en-IN" sz="1200" b="1" dirty="0"/>
              <a:t>View Soft-Deleted Blobs</a:t>
            </a:r>
            <a:r>
              <a:rPr lang="en-IN" sz="1200" dirty="0"/>
              <a:t>:</a:t>
            </a:r>
          </a:p>
          <a:p>
            <a:pPr marL="171450" lvl="0" indent="-171450">
              <a:buFont typeface="Arial" panose="020B0604020202020204" pitchFamily="34" charset="0"/>
              <a:buChar char="•"/>
            </a:pPr>
            <a:r>
              <a:rPr lang="en-IN" sz="1200" dirty="0"/>
              <a:t>Navigate to the Azure portal and go to your storage account.</a:t>
            </a:r>
          </a:p>
          <a:p>
            <a:pPr marL="171450" lvl="0" indent="-171450">
              <a:buFont typeface="Arial" panose="020B0604020202020204" pitchFamily="34" charset="0"/>
              <a:buChar char="•"/>
            </a:pPr>
            <a:r>
              <a:rPr lang="en-IN" sz="1200" dirty="0"/>
              <a:t>Go to the </a:t>
            </a:r>
            <a:r>
              <a:rPr lang="en-IN" sz="1200" b="1" dirty="0"/>
              <a:t>Blob service</a:t>
            </a:r>
            <a:r>
              <a:rPr lang="en-IN" sz="1200" dirty="0"/>
              <a:t> section and select the container where the blob was deleted.</a:t>
            </a:r>
          </a:p>
          <a:p>
            <a:pPr marL="171450" lvl="0" indent="-171450">
              <a:buFont typeface="Arial" panose="020B0604020202020204" pitchFamily="34" charset="0"/>
              <a:buChar char="•"/>
            </a:pPr>
            <a:r>
              <a:rPr lang="en-IN" sz="1200" dirty="0"/>
              <a:t>Toggle the </a:t>
            </a:r>
            <a:r>
              <a:rPr lang="en-IN" sz="1200" b="1" dirty="0"/>
              <a:t>Show deleted blobs</a:t>
            </a:r>
            <a:r>
              <a:rPr lang="en-IN" sz="1200" dirty="0"/>
              <a:t> option to view the list of soft-deleted blobs.</a:t>
            </a:r>
          </a:p>
          <a:p>
            <a:pPr lvl="0"/>
            <a:r>
              <a:rPr lang="en-IN" sz="1200" b="1" dirty="0"/>
              <a:t>Restore the Blob</a:t>
            </a:r>
            <a:r>
              <a:rPr lang="en-IN" sz="1200" dirty="0"/>
              <a:t>:</a:t>
            </a:r>
          </a:p>
          <a:p>
            <a:pPr marL="171450" lvl="0" indent="-171450">
              <a:buFont typeface="Arial" panose="020B0604020202020204" pitchFamily="34" charset="0"/>
              <a:buChar char="•"/>
            </a:pPr>
            <a:r>
              <a:rPr lang="en-IN" sz="1200" dirty="0"/>
              <a:t>Select the soft-deleted blob from the list.</a:t>
            </a:r>
          </a:p>
          <a:p>
            <a:pPr marL="171450" lvl="0" indent="-171450">
              <a:buFont typeface="Arial" panose="020B0604020202020204" pitchFamily="34" charset="0"/>
              <a:buChar char="•"/>
            </a:pPr>
            <a:r>
              <a:rPr lang="en-IN" sz="1200" dirty="0"/>
              <a:t>Click on the </a:t>
            </a:r>
            <a:r>
              <a:rPr lang="en-IN" sz="1200" b="1" dirty="0"/>
              <a:t>Undelete</a:t>
            </a:r>
            <a:r>
              <a:rPr lang="en-IN" sz="1200" dirty="0"/>
              <a:t> button to restore the blob.</a:t>
            </a:r>
          </a:p>
        </p:txBody>
      </p:sp>
      <p:sp>
        <p:nvSpPr>
          <p:cNvPr id="23" name="Rectangle 22">
            <a:extLst>
              <a:ext uri="{FF2B5EF4-FFF2-40B4-BE49-F238E27FC236}">
                <a16:creationId xmlns:a16="http://schemas.microsoft.com/office/drawing/2014/main" id="{B86C1ABF-908D-9841-884B-992256745CE5}"/>
              </a:ext>
            </a:extLst>
          </p:cNvPr>
          <p:cNvSpPr/>
          <p:nvPr/>
        </p:nvSpPr>
        <p:spPr>
          <a:xfrm>
            <a:off x="10587487" y="1345721"/>
            <a:ext cx="1555629" cy="428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24" name="TextBox 23">
            <a:extLst>
              <a:ext uri="{FF2B5EF4-FFF2-40B4-BE49-F238E27FC236}">
                <a16:creationId xmlns:a16="http://schemas.microsoft.com/office/drawing/2014/main" id="{84CA0235-1963-2136-9BAF-6955FD028DBB}"/>
              </a:ext>
            </a:extLst>
          </p:cNvPr>
          <p:cNvSpPr txBox="1"/>
          <p:nvPr/>
        </p:nvSpPr>
        <p:spPr>
          <a:xfrm>
            <a:off x="10265434" y="1270958"/>
            <a:ext cx="1771291" cy="276999"/>
          </a:xfrm>
          <a:prstGeom prst="rect">
            <a:avLst/>
          </a:prstGeom>
          <a:noFill/>
        </p:spPr>
        <p:txBody>
          <a:bodyPr wrap="square" rtlCol="0">
            <a:spAutoFit/>
          </a:bodyPr>
          <a:lstStyle/>
          <a:p>
            <a:r>
              <a:rPr lang="en-IN" sz="1200" b="1" dirty="0">
                <a:solidFill>
                  <a:srgbClr val="00B0F0"/>
                </a:solidFill>
              </a:rPr>
              <a:t>Data protection</a:t>
            </a:r>
            <a:r>
              <a:rPr lang="en-US" sz="1200" b="1" dirty="0">
                <a:solidFill>
                  <a:srgbClr val="00B0F0"/>
                </a:solidFill>
              </a:rPr>
              <a:t> tab..</a:t>
            </a:r>
            <a:endParaRPr lang="en-IN" sz="1200" b="1" dirty="0">
              <a:solidFill>
                <a:srgbClr val="00B0F0"/>
              </a:solidFill>
            </a:endParaRPr>
          </a:p>
        </p:txBody>
      </p:sp>
      <p:sp>
        <p:nvSpPr>
          <p:cNvPr id="25" name="TextBox 24">
            <a:extLst>
              <a:ext uri="{FF2B5EF4-FFF2-40B4-BE49-F238E27FC236}">
                <a16:creationId xmlns:a16="http://schemas.microsoft.com/office/drawing/2014/main" id="{D285D228-E0E3-49DF-C0A7-B490101AC1C6}"/>
              </a:ext>
            </a:extLst>
          </p:cNvPr>
          <p:cNvSpPr txBox="1"/>
          <p:nvPr/>
        </p:nvSpPr>
        <p:spPr>
          <a:xfrm>
            <a:off x="4077418" y="1828456"/>
            <a:ext cx="8114581" cy="5001369"/>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IN" sz="1100" b="1" dirty="0"/>
              <a:t>Requiring secure transfer for REST API operations</a:t>
            </a:r>
            <a:r>
              <a:rPr lang="en-IN" sz="1100" dirty="0"/>
              <a:t> :  Azure Blob Storage is an important security measure to ensure that all data transmitted to and from the storage account is encrypted in transit. This can prevent data from being intercepted by unauthorized parties. </a:t>
            </a:r>
          </a:p>
          <a:p>
            <a:pPr marL="171450" indent="-171450">
              <a:buFont typeface="Arial" panose="020B0604020202020204" pitchFamily="34" charset="0"/>
              <a:buChar char="•"/>
            </a:pPr>
            <a:r>
              <a:rPr lang="en-IN" sz="1100" b="1" dirty="0"/>
              <a:t>Enabling public access on a container</a:t>
            </a:r>
            <a:r>
              <a:rPr lang="en-IN" sz="1100" dirty="0"/>
              <a:t>: in Azure Blob Storage can be useful for several reasons, especially when you need to share data widely without the need for authentication. By enabling public access, you can efficiently share data with a broad audience while simplifying the access process. However, it's essential to balance the need for accessibility with appropriate security measures to protect sensitive information.</a:t>
            </a:r>
          </a:p>
          <a:p>
            <a:pPr marL="171450" indent="-171450">
              <a:buFont typeface="Arial" panose="020B0604020202020204" pitchFamily="34" charset="0"/>
              <a:buChar char="•"/>
            </a:pPr>
            <a:r>
              <a:rPr lang="en-IN" sz="1100" b="1" dirty="0"/>
              <a:t>Enable storage account key access</a:t>
            </a:r>
            <a:r>
              <a:rPr lang="en-IN" sz="1100" dirty="0"/>
              <a:t> in Azure, you can manage the access keys of your storage account to allow applications to access your Azure Storage resources.</a:t>
            </a:r>
          </a:p>
          <a:p>
            <a:pPr marL="171450" indent="-171450">
              <a:buFont typeface="Arial" panose="020B0604020202020204" pitchFamily="34" charset="0"/>
              <a:buChar char="•"/>
            </a:pPr>
            <a:r>
              <a:rPr lang="en-IN" sz="1100" b="1" dirty="0"/>
              <a:t>Default to Azure Active Directory (AAD) authorization in the Azure Portal: </a:t>
            </a:r>
            <a:r>
              <a:rPr lang="en-IN" sz="1100" dirty="0"/>
              <a:t>Benefits of Defaulting to AAD Authorization</a:t>
            </a:r>
          </a:p>
          <a:p>
            <a:pPr marL="171450" lvl="0" indent="-171450">
              <a:buFont typeface="Arial" panose="020B0604020202020204" pitchFamily="34" charset="0"/>
              <a:buChar char="•"/>
            </a:pPr>
            <a:r>
              <a:rPr lang="en-IN" sz="1100" dirty="0"/>
              <a:t>Enhanced Security: Using AAD for authorization provides better security compared to using access keys.</a:t>
            </a:r>
          </a:p>
          <a:p>
            <a:pPr marL="171450" lvl="0" indent="-171450">
              <a:buFont typeface="Arial" panose="020B0604020202020204" pitchFamily="34" charset="0"/>
              <a:buChar char="•"/>
            </a:pPr>
            <a:r>
              <a:rPr lang="en-IN" sz="1100" dirty="0"/>
              <a:t>Simplified Access Management: Easier to manage permissions and access control using Azure RBAC (Role-Based Access Control).</a:t>
            </a:r>
          </a:p>
          <a:p>
            <a:pPr marL="171450" lvl="0" indent="-171450">
              <a:buFont typeface="Arial" panose="020B0604020202020204" pitchFamily="34" charset="0"/>
              <a:buChar char="•"/>
            </a:pPr>
            <a:r>
              <a:rPr lang="en-IN" sz="1100" dirty="0"/>
              <a:t>Compliance: Helps meet regulatory and compliance requirements by using modern authentication methods.</a:t>
            </a:r>
          </a:p>
          <a:p>
            <a:pPr marL="171450" indent="-171450">
              <a:buFont typeface="Arial" panose="020B0604020202020204" pitchFamily="34" charset="0"/>
              <a:buChar char="•"/>
            </a:pPr>
            <a:r>
              <a:rPr lang="en-IN" sz="1100" dirty="0"/>
              <a:t>By enabling this setting, you ensure that all data access operations in the Azure Portal default to using AAD, enhancing security and simplifying access management.	</a:t>
            </a:r>
          </a:p>
          <a:p>
            <a:pPr marL="171450" indent="-171450">
              <a:buFont typeface="Arial" panose="020B0604020202020204" pitchFamily="34" charset="0"/>
              <a:buChar char="•"/>
            </a:pPr>
            <a:r>
              <a:rPr lang="en-IN" sz="1100" dirty="0"/>
              <a:t>The </a:t>
            </a:r>
            <a:r>
              <a:rPr lang="en-IN" sz="1100" b="1" dirty="0"/>
              <a:t>Permitted Scope for Copy Operations</a:t>
            </a:r>
            <a:r>
              <a:rPr lang="en-IN" sz="1100" dirty="0"/>
              <a:t> feature in Azure Blob Storage allows you to restrict the source accounts from which data can be copied to your destination account.</a:t>
            </a:r>
          </a:p>
          <a:p>
            <a:pPr marL="171450" indent="-171450">
              <a:buFont typeface="Arial" panose="020B0604020202020204" pitchFamily="34" charset="0"/>
              <a:buChar char="•"/>
            </a:pPr>
            <a:r>
              <a:rPr lang="en-IN" sz="1100" b="1" dirty="0"/>
              <a:t>Allowed Copy Scope Options</a:t>
            </a:r>
            <a:endParaRPr lang="en-IN" sz="1100" dirty="0"/>
          </a:p>
          <a:p>
            <a:pPr marL="171450" lvl="0" indent="-171450">
              <a:buFont typeface="Arial" panose="020B0604020202020204" pitchFamily="34" charset="0"/>
              <a:buChar char="•"/>
            </a:pPr>
            <a:r>
              <a:rPr lang="en-IN" sz="1100" b="1" dirty="0"/>
              <a:t>(null) (default)</a:t>
            </a:r>
            <a:r>
              <a:rPr lang="en-IN" sz="1100" dirty="0"/>
              <a:t>: Allows copying from any storage account to the destination account.</a:t>
            </a:r>
          </a:p>
          <a:p>
            <a:pPr marL="171450" lvl="0" indent="-171450">
              <a:buFont typeface="Arial" panose="020B0604020202020204" pitchFamily="34" charset="0"/>
              <a:buChar char="•"/>
            </a:pPr>
            <a:r>
              <a:rPr lang="en-IN" sz="1100" b="1" dirty="0"/>
              <a:t>Microsoft Entra ID</a:t>
            </a:r>
            <a:r>
              <a:rPr lang="en-IN" sz="1100" dirty="0"/>
              <a:t>: Permits copying only from accounts within the same Microsoft Entra tenant as the destination account.</a:t>
            </a:r>
          </a:p>
          <a:p>
            <a:pPr marL="171450" lvl="0" indent="-171450">
              <a:buFont typeface="Arial" panose="020B0604020202020204" pitchFamily="34" charset="0"/>
              <a:buChar char="•"/>
            </a:pPr>
            <a:r>
              <a:rPr lang="en-IN" sz="1100" b="1" dirty="0" err="1"/>
              <a:t>PrivateLink</a:t>
            </a:r>
            <a:r>
              <a:rPr lang="en-IN" sz="1100" dirty="0"/>
              <a:t>: Permits copying only from storage accounts that have private links to the same virtual network as the destination account.</a:t>
            </a:r>
          </a:p>
          <a:p>
            <a:pPr marL="171450" indent="-171450">
              <a:buFont typeface="Arial" panose="020B0604020202020204" pitchFamily="34" charset="0"/>
              <a:buChar char="•"/>
            </a:pPr>
            <a:r>
              <a:rPr lang="en-IN" sz="1100" b="1" dirty="0"/>
              <a:t>Enable cross-tenant replication:</a:t>
            </a:r>
            <a:r>
              <a:rPr lang="en-IN" sz="1100" dirty="0"/>
              <a:t> </a:t>
            </a:r>
            <a:r>
              <a:rPr lang="en-IN" sz="1100" b="1" dirty="0"/>
              <a:t> </a:t>
            </a:r>
            <a:r>
              <a:rPr lang="en-IN" sz="1100" dirty="0"/>
              <a:t>Create Replication Policy:</a:t>
            </a:r>
          </a:p>
          <a:p>
            <a:pPr marL="171450" lvl="0" indent="-171450">
              <a:buFont typeface="Arial" panose="020B0604020202020204" pitchFamily="34" charset="0"/>
              <a:buChar char="•"/>
            </a:pPr>
            <a:r>
              <a:rPr lang="en-IN" sz="1100" dirty="0"/>
              <a:t>Click on Create replication rules.</a:t>
            </a:r>
          </a:p>
          <a:p>
            <a:pPr marL="171450" lvl="0" indent="-171450">
              <a:buFont typeface="Arial" panose="020B0604020202020204" pitchFamily="34" charset="0"/>
              <a:buChar char="•"/>
            </a:pPr>
            <a:r>
              <a:rPr lang="en-IN" sz="1100" dirty="0"/>
              <a:t>Select the destination subscription and destination storage account.</a:t>
            </a:r>
          </a:p>
          <a:p>
            <a:pPr marL="171450" lvl="0" indent="-171450">
              <a:buFont typeface="Arial" panose="020B0604020202020204" pitchFamily="34" charset="0"/>
              <a:buChar char="•"/>
            </a:pPr>
            <a:r>
              <a:rPr lang="en-IN" sz="1100" dirty="0"/>
              <a:t>In the Container pair details section, select a source container from the source account and a destination container from the destination account.</a:t>
            </a:r>
          </a:p>
          <a:p>
            <a:pPr marL="171450" indent="-171450">
              <a:buFont typeface="Arial" panose="020B0604020202020204" pitchFamily="34" charset="0"/>
              <a:buChar char="•"/>
            </a:pPr>
            <a:r>
              <a:rPr lang="en-IN" sz="1100" dirty="0"/>
              <a:t>Configure Replication Rules: Specify the rules for replication, such as which block blobs in the source container will be replicated to the destination container.</a:t>
            </a:r>
          </a:p>
          <a:p>
            <a:pPr marL="171450" indent="-171450">
              <a:buFont typeface="Arial" panose="020B0604020202020204" pitchFamily="34" charset="0"/>
              <a:buChar char="•"/>
            </a:pPr>
            <a:r>
              <a:rPr lang="en-IN" sz="1100" dirty="0"/>
              <a:t> Save: Click on Save to apply the replication policy</a:t>
            </a:r>
          </a:p>
        </p:txBody>
      </p:sp>
    </p:spTree>
    <p:extLst>
      <p:ext uri="{BB962C8B-B14F-4D97-AF65-F5344CB8AC3E}">
        <p14:creationId xmlns:p14="http://schemas.microsoft.com/office/powerpoint/2010/main" val="20425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099D0-5D68-CDB5-4568-87D6F8449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0398D-86E0-238F-5DA8-E7FCB90FC269}"/>
              </a:ext>
            </a:extLst>
          </p:cNvPr>
          <p:cNvSpPr>
            <a:spLocks noGrp="1"/>
          </p:cNvSpPr>
          <p:nvPr>
            <p:ph type="title"/>
          </p:nvPr>
        </p:nvSpPr>
        <p:spPr/>
        <p:txBody>
          <a:bodyPr/>
          <a:lstStyle/>
          <a:p>
            <a:r>
              <a:rPr lang="en-IN" dirty="0"/>
              <a:t>storage account</a:t>
            </a:r>
            <a:endParaRPr lang="en-IN" b="1" dirty="0"/>
          </a:p>
        </p:txBody>
      </p:sp>
      <p:sp>
        <p:nvSpPr>
          <p:cNvPr id="4" name="TextBox 3">
            <a:extLst>
              <a:ext uri="{FF2B5EF4-FFF2-40B4-BE49-F238E27FC236}">
                <a16:creationId xmlns:a16="http://schemas.microsoft.com/office/drawing/2014/main" id="{EC096951-50CA-2D84-DEC5-23509D02366B}"/>
              </a:ext>
            </a:extLst>
          </p:cNvPr>
          <p:cNvSpPr txBox="1"/>
          <p:nvPr/>
        </p:nvSpPr>
        <p:spPr>
          <a:xfrm>
            <a:off x="0" y="2473532"/>
            <a:ext cx="11979215" cy="2962513"/>
          </a:xfrm>
          <a:prstGeom prst="roundRect">
            <a:avLst/>
          </a:prstGeom>
          <a:noFill/>
          <a:ln>
            <a:solidFill>
              <a:schemeClr val="tx1">
                <a:lumMod val="75000"/>
              </a:schemeClr>
            </a:solidFill>
          </a:ln>
        </p:spPr>
        <p:txBody>
          <a:bodyPr wrap="square" rtlCol="0" anchor="ctr">
            <a:spAutoFit/>
          </a:bodyPr>
          <a:lstStyle/>
          <a:p>
            <a:pPr marL="285750" indent="-285750">
              <a:buFont typeface="Arial" panose="020B0604020202020204" pitchFamily="34" charset="0"/>
              <a:buChar char="•"/>
            </a:pPr>
            <a:r>
              <a:rPr lang="en-IN" sz="1400" b="1" dirty="0"/>
              <a:t>Enabling Point-in-Time Restore : </a:t>
            </a:r>
            <a:r>
              <a:rPr lang="en-IN" sz="1400" dirty="0"/>
              <a:t>Point-in-time restore for Azure Blob Storage containers allows you to restore a container to a previous state at a specific point in time.</a:t>
            </a:r>
          </a:p>
          <a:p>
            <a:pPr marL="742950" lvl="1" indent="-285750">
              <a:buFont typeface="Arial" panose="020B0604020202020204" pitchFamily="34" charset="0"/>
              <a:buChar char="•"/>
            </a:pPr>
            <a:r>
              <a:rPr lang="en-IN" sz="1400" b="1" dirty="0"/>
              <a:t>Prerequisites</a:t>
            </a:r>
            <a:endParaRPr lang="en-IN" sz="1400" dirty="0"/>
          </a:p>
          <a:p>
            <a:pPr marL="1200150" lvl="2" indent="-285750">
              <a:buFont typeface="Arial" panose="020B0604020202020204" pitchFamily="34" charset="0"/>
              <a:buChar char="•"/>
            </a:pPr>
            <a:r>
              <a:rPr lang="en-IN" sz="1400" b="1" dirty="0"/>
              <a:t>Blob Versioning</a:t>
            </a:r>
            <a:r>
              <a:rPr lang="en-IN" sz="1400" dirty="0"/>
              <a:t>: Ensure blob versioning is enabled on your storage account.</a:t>
            </a:r>
          </a:p>
          <a:p>
            <a:pPr marL="1200150" lvl="2" indent="-285750">
              <a:buFont typeface="Arial" panose="020B0604020202020204" pitchFamily="34" charset="0"/>
              <a:buChar char="•"/>
            </a:pPr>
            <a:r>
              <a:rPr lang="en-IN" sz="1400" b="1" dirty="0"/>
              <a:t>Change Feed</a:t>
            </a:r>
            <a:r>
              <a:rPr lang="en-IN" sz="1400" dirty="0"/>
              <a:t>: Ensure the change feed is enabled on your storage account.</a:t>
            </a:r>
          </a:p>
          <a:p>
            <a:pPr marL="1200150" lvl="2" indent="-285750">
              <a:buFont typeface="Arial" panose="020B0604020202020204" pitchFamily="34" charset="0"/>
              <a:buChar char="•"/>
            </a:pPr>
            <a:r>
              <a:rPr lang="en-IN" sz="1400" b="1" dirty="0"/>
              <a:t>Soft Delete</a:t>
            </a:r>
            <a:r>
              <a:rPr lang="en-IN" sz="1400" dirty="0"/>
              <a:t>: It is recommended to have soft delete enabled for additional protection.</a:t>
            </a:r>
          </a:p>
          <a:p>
            <a:pPr marL="285750" indent="-285750">
              <a:buFont typeface="Arial" panose="020B0604020202020204" pitchFamily="34" charset="0"/>
              <a:buChar char="•"/>
            </a:pPr>
            <a:r>
              <a:rPr lang="en-IN" sz="1400" b="1" dirty="0"/>
              <a:t>Enabling soft delete for blobs </a:t>
            </a:r>
            <a:r>
              <a:rPr lang="en-IN" sz="1400" dirty="0"/>
              <a:t>in Azure Blob Storage is a great way to protect your data from accidental deletions. Soft delete preserves your deleted data for a specified retention period, allowing you to restore it if needed.</a:t>
            </a:r>
          </a:p>
          <a:p>
            <a:pPr marL="285750" indent="-285750">
              <a:buFont typeface="Arial" panose="020B0604020202020204" pitchFamily="34" charset="0"/>
              <a:buChar char="•"/>
            </a:pPr>
            <a:r>
              <a:rPr lang="en-IN" sz="1400" b="1" dirty="0"/>
              <a:t>Enabling soft delete for containers </a:t>
            </a:r>
            <a:r>
              <a:rPr lang="en-IN" sz="1400" dirty="0"/>
              <a:t>in Azure Blob Storage is a powerful feature that protects entire containers and their contents from accidental or malicious deletions.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b="1" dirty="0"/>
              <a:t>Enable soft delete for file shares.</a:t>
            </a:r>
            <a:endParaRPr lang="en-IN" sz="1400" dirty="0"/>
          </a:p>
        </p:txBody>
      </p:sp>
      <p:sp>
        <p:nvSpPr>
          <p:cNvPr id="23" name="Rectangle 22">
            <a:extLst>
              <a:ext uri="{FF2B5EF4-FFF2-40B4-BE49-F238E27FC236}">
                <a16:creationId xmlns:a16="http://schemas.microsoft.com/office/drawing/2014/main" id="{724BDCEF-BE50-3362-D6E9-DCC5701751F1}"/>
              </a:ext>
            </a:extLst>
          </p:cNvPr>
          <p:cNvSpPr/>
          <p:nvPr/>
        </p:nvSpPr>
        <p:spPr>
          <a:xfrm>
            <a:off x="10587487" y="1345721"/>
            <a:ext cx="1555629" cy="4289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2"/>
              </a:solidFill>
            </a:endParaRPr>
          </a:p>
        </p:txBody>
      </p:sp>
      <p:sp>
        <p:nvSpPr>
          <p:cNvPr id="24" name="TextBox 23">
            <a:extLst>
              <a:ext uri="{FF2B5EF4-FFF2-40B4-BE49-F238E27FC236}">
                <a16:creationId xmlns:a16="http://schemas.microsoft.com/office/drawing/2014/main" id="{0B63B741-D709-FF68-CC84-1A93372DDC0C}"/>
              </a:ext>
            </a:extLst>
          </p:cNvPr>
          <p:cNvSpPr txBox="1"/>
          <p:nvPr/>
        </p:nvSpPr>
        <p:spPr>
          <a:xfrm>
            <a:off x="9949132" y="1270958"/>
            <a:ext cx="2087593" cy="276999"/>
          </a:xfrm>
          <a:prstGeom prst="rect">
            <a:avLst/>
          </a:prstGeom>
          <a:noFill/>
        </p:spPr>
        <p:txBody>
          <a:bodyPr wrap="square" rtlCol="0">
            <a:spAutoFit/>
          </a:bodyPr>
          <a:lstStyle/>
          <a:p>
            <a:r>
              <a:rPr lang="en-IN" sz="1200" b="1" dirty="0">
                <a:solidFill>
                  <a:srgbClr val="00B0F0"/>
                </a:solidFill>
              </a:rPr>
              <a:t>Data protection</a:t>
            </a:r>
          </a:p>
        </p:txBody>
      </p:sp>
    </p:spTree>
    <p:extLst>
      <p:ext uri="{BB962C8B-B14F-4D97-AF65-F5344CB8AC3E}">
        <p14:creationId xmlns:p14="http://schemas.microsoft.com/office/powerpoint/2010/main" val="202384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83B37-1963-A172-6B53-5F568EE299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6F938-5712-82D2-DBA2-6FE964F2898B}"/>
              </a:ext>
            </a:extLst>
          </p:cNvPr>
          <p:cNvSpPr>
            <a:spLocks noGrp="1"/>
          </p:cNvSpPr>
          <p:nvPr>
            <p:ph type="title"/>
          </p:nvPr>
        </p:nvSpPr>
        <p:spPr/>
        <p:txBody>
          <a:bodyPr/>
          <a:lstStyle/>
          <a:p>
            <a:r>
              <a:rPr lang="en-IN" b="1" dirty="0"/>
              <a:t>Pipeline</a:t>
            </a:r>
          </a:p>
        </p:txBody>
      </p:sp>
      <p:sp>
        <p:nvSpPr>
          <p:cNvPr id="4" name="TextBox 3">
            <a:extLst>
              <a:ext uri="{FF2B5EF4-FFF2-40B4-BE49-F238E27FC236}">
                <a16:creationId xmlns:a16="http://schemas.microsoft.com/office/drawing/2014/main" id="{D28CFB1F-1299-5D92-E9D6-C3115832065C}"/>
              </a:ext>
            </a:extLst>
          </p:cNvPr>
          <p:cNvSpPr txBox="1"/>
          <p:nvPr/>
        </p:nvSpPr>
        <p:spPr>
          <a:xfrm>
            <a:off x="40258" y="1878984"/>
            <a:ext cx="2731696" cy="1055608"/>
          </a:xfrm>
          <a:prstGeom prst="roundRect">
            <a:avLst/>
          </a:prstGeom>
          <a:noFill/>
          <a:ln>
            <a:solidFill>
              <a:schemeClr val="tx1">
                <a:lumMod val="75000"/>
              </a:schemeClr>
            </a:solidFill>
          </a:ln>
        </p:spPr>
        <p:txBody>
          <a:bodyPr wrap="square" rtlCol="0" anchor="ctr">
            <a:spAutoFit/>
          </a:bodyPr>
          <a:lstStyle/>
          <a:p>
            <a:r>
              <a:rPr lang="en-IN" sz="1400" dirty="0"/>
              <a:t>In the context of Azure Data Factory (ADF) and other data integration platforms, </a:t>
            </a:r>
            <a:r>
              <a:rPr lang="en-IN" sz="1400" b="1" i="1" dirty="0">
                <a:solidFill>
                  <a:srgbClr val="C00000"/>
                </a:solidFill>
              </a:rPr>
              <a:t>a pipeline is a logical grouping of activities</a:t>
            </a:r>
            <a:endParaRPr lang="en-IN" sz="1400" dirty="0">
              <a:solidFill>
                <a:srgbClr val="C00000"/>
              </a:solidFill>
            </a:endParaRPr>
          </a:p>
        </p:txBody>
      </p:sp>
      <p:sp>
        <p:nvSpPr>
          <p:cNvPr id="5" name="TextBox 4">
            <a:extLst>
              <a:ext uri="{FF2B5EF4-FFF2-40B4-BE49-F238E27FC236}">
                <a16:creationId xmlns:a16="http://schemas.microsoft.com/office/drawing/2014/main" id="{C4039F2D-80BC-2192-B4B3-0F7FA146D009}"/>
              </a:ext>
            </a:extLst>
          </p:cNvPr>
          <p:cNvSpPr txBox="1"/>
          <p:nvPr/>
        </p:nvSpPr>
        <p:spPr>
          <a:xfrm>
            <a:off x="2881223" y="1878984"/>
            <a:ext cx="9270519" cy="4801314"/>
          </a:xfrm>
          <a:prstGeom prst="roundRect">
            <a:avLst/>
          </a:prstGeom>
          <a:noFill/>
          <a:ln>
            <a:solidFill>
              <a:schemeClr val="tx1">
                <a:lumMod val="75000"/>
              </a:schemeClr>
            </a:solidFill>
          </a:ln>
        </p:spPr>
        <p:txBody>
          <a:bodyPr wrap="square" rtlCol="0">
            <a:spAutoFit/>
          </a:bodyPr>
          <a:lstStyle/>
          <a:p>
            <a:pPr lvl="0"/>
            <a:r>
              <a:rPr lang="en-US" sz="1400" b="1" dirty="0">
                <a:solidFill>
                  <a:srgbClr val="00B0F0"/>
                </a:solidFill>
              </a:rPr>
              <a:t>Key Components of a Pipeline</a:t>
            </a:r>
            <a:endParaRPr lang="en-IN" sz="1400" b="1" dirty="0">
              <a:solidFill>
                <a:srgbClr val="00B0F0"/>
              </a:solidFill>
            </a:endParaRPr>
          </a:p>
          <a:p>
            <a:pPr lvl="0"/>
            <a:r>
              <a:rPr lang="en-IN" sz="1200" b="1" dirty="0"/>
              <a:t>Activities</a:t>
            </a:r>
            <a:r>
              <a:rPr lang="en-IN" sz="1200" dirty="0"/>
              <a:t>:</a:t>
            </a:r>
          </a:p>
          <a:p>
            <a:pPr lvl="1"/>
            <a:r>
              <a:rPr lang="en-IN" sz="1200" b="1" dirty="0"/>
              <a:t>Definition</a:t>
            </a:r>
            <a:r>
              <a:rPr lang="en-IN" sz="1200" dirty="0"/>
              <a:t>: Each activity represents a step in the process. Activities can include data movement (copy data), data transformation (data flow), control flow (if/else logic, loops), and more. </a:t>
            </a:r>
            <a:r>
              <a:rPr lang="en-IN" sz="1200" b="1" dirty="0"/>
              <a:t>Examples</a:t>
            </a:r>
            <a:r>
              <a:rPr lang="en-IN" sz="1200" dirty="0"/>
              <a:t>: Copy Activity, Data Flow Activity, Execute Stored Procedure Activity.</a:t>
            </a:r>
          </a:p>
          <a:p>
            <a:pPr lvl="0"/>
            <a:r>
              <a:rPr lang="en-IN" sz="1200" b="1" dirty="0"/>
              <a:t>Triggers</a:t>
            </a:r>
            <a:r>
              <a:rPr lang="en-IN" sz="1200" dirty="0"/>
              <a:t>:</a:t>
            </a:r>
          </a:p>
          <a:p>
            <a:pPr lvl="1"/>
            <a:r>
              <a:rPr lang="en-IN" sz="1200" b="1" dirty="0"/>
              <a:t>Definition</a:t>
            </a:r>
            <a:r>
              <a:rPr lang="en-IN" sz="1200" dirty="0"/>
              <a:t>: Triggers determine when a pipeline execution starts. They can be scheduled, triggered by events, or manual.</a:t>
            </a:r>
          </a:p>
          <a:p>
            <a:pPr lvl="1"/>
            <a:r>
              <a:rPr lang="en-IN" sz="1200" b="1" dirty="0"/>
              <a:t>Types</a:t>
            </a:r>
            <a:r>
              <a:rPr lang="en-IN" sz="1200" dirty="0"/>
              <a:t>: Schedule triggers, tumbling window triggers, event-based triggers, and on-demand triggers.</a:t>
            </a:r>
          </a:p>
          <a:p>
            <a:pPr lvl="0"/>
            <a:r>
              <a:rPr lang="en-IN" sz="1200" b="1" dirty="0"/>
              <a:t>Data Flows</a:t>
            </a:r>
            <a:r>
              <a:rPr lang="en-IN" sz="1200" dirty="0"/>
              <a:t>:</a:t>
            </a:r>
          </a:p>
          <a:p>
            <a:pPr lvl="1"/>
            <a:r>
              <a:rPr lang="en-IN" sz="1200" b="1" dirty="0"/>
              <a:t>Definition</a:t>
            </a:r>
            <a:r>
              <a:rPr lang="en-IN" sz="1200" dirty="0"/>
              <a:t>: Define how data should be transformed during the pipeline execution. They can include operations like joins, aggregations, sorting, and more.</a:t>
            </a:r>
          </a:p>
          <a:p>
            <a:pPr lvl="1"/>
            <a:r>
              <a:rPr lang="en-IN" sz="1200" b="1" dirty="0"/>
              <a:t>Examples</a:t>
            </a:r>
            <a:r>
              <a:rPr lang="en-IN" sz="1200" dirty="0"/>
              <a:t>: Mapping Data Flow, Wrangling Data Flow.</a:t>
            </a:r>
          </a:p>
          <a:p>
            <a:pPr lvl="0"/>
            <a:r>
              <a:rPr lang="en-IN" sz="1200" b="1" dirty="0"/>
              <a:t>Linked Services</a:t>
            </a:r>
            <a:r>
              <a:rPr lang="en-IN" sz="1200" dirty="0"/>
              <a:t>:</a:t>
            </a:r>
          </a:p>
          <a:p>
            <a:pPr lvl="1"/>
            <a:r>
              <a:rPr lang="en-IN" sz="1200" b="1" dirty="0"/>
              <a:t>Definition</a:t>
            </a:r>
            <a:r>
              <a:rPr lang="en-IN" sz="1200" dirty="0"/>
              <a:t>: Linked services define the connection information for data sources and destinations. They specify how to connect to external services like Azure Blob Storage, SQL databases, and more. </a:t>
            </a:r>
            <a:r>
              <a:rPr lang="en-IN" sz="1200" b="1" dirty="0"/>
              <a:t>Examples</a:t>
            </a:r>
            <a:r>
              <a:rPr lang="en-IN" sz="1200" dirty="0"/>
              <a:t>: Azure Blob Storage Linked Service, Azure SQL Database Linked Service.</a:t>
            </a:r>
          </a:p>
          <a:p>
            <a:pPr lvl="0"/>
            <a:r>
              <a:rPr lang="en-IN" sz="1200" b="1" dirty="0"/>
              <a:t>Datasets</a:t>
            </a:r>
            <a:r>
              <a:rPr lang="en-IN" sz="1200" dirty="0"/>
              <a:t>:</a:t>
            </a:r>
          </a:p>
          <a:p>
            <a:pPr lvl="1"/>
            <a:r>
              <a:rPr lang="en-IN" sz="1200" b="1" dirty="0"/>
              <a:t>Definition</a:t>
            </a:r>
            <a:r>
              <a:rPr lang="en-IN" sz="1200" dirty="0"/>
              <a:t>: Datasets represent data structures within the data stores that are referenced by activities. They define the schema, location, and format of the data.</a:t>
            </a:r>
          </a:p>
          <a:p>
            <a:pPr lvl="1"/>
            <a:r>
              <a:rPr lang="en-IN" sz="1200" b="1" dirty="0"/>
              <a:t>Examples</a:t>
            </a:r>
            <a:r>
              <a:rPr lang="en-IN" sz="1200" dirty="0"/>
              <a:t>: CSV dataset, SQL table dataset.</a:t>
            </a:r>
          </a:p>
          <a:p>
            <a:pPr lvl="0"/>
            <a:r>
              <a:rPr lang="en-IN" sz="1200" b="1" dirty="0"/>
              <a:t>Control Flow</a:t>
            </a:r>
            <a:r>
              <a:rPr lang="en-IN" sz="1200" dirty="0"/>
              <a:t>:</a:t>
            </a:r>
          </a:p>
          <a:p>
            <a:pPr lvl="1"/>
            <a:r>
              <a:rPr lang="en-IN" sz="1200" b="1" dirty="0"/>
              <a:t>Definition</a:t>
            </a:r>
            <a:r>
              <a:rPr lang="en-IN" sz="1200" dirty="0"/>
              <a:t>: Pipelines can include control flow activities that allow for conditional logic, looping, and error handling. </a:t>
            </a:r>
            <a:r>
              <a:rPr lang="en-IN" sz="1200" b="1" dirty="0"/>
              <a:t>Examples</a:t>
            </a:r>
            <a:r>
              <a:rPr lang="en-IN" sz="1200" dirty="0"/>
              <a:t>: For Each Activity, If Condition Activity, Until Activity.</a:t>
            </a:r>
          </a:p>
        </p:txBody>
      </p:sp>
      <p:sp>
        <p:nvSpPr>
          <p:cNvPr id="8" name="TextBox 7">
            <a:extLst>
              <a:ext uri="{FF2B5EF4-FFF2-40B4-BE49-F238E27FC236}">
                <a16:creationId xmlns:a16="http://schemas.microsoft.com/office/drawing/2014/main" id="{B2563666-4A8A-A027-83E1-C460595C8DDF}"/>
              </a:ext>
            </a:extLst>
          </p:cNvPr>
          <p:cNvSpPr txBox="1"/>
          <p:nvPr/>
        </p:nvSpPr>
        <p:spPr>
          <a:xfrm>
            <a:off x="-1" y="2985120"/>
            <a:ext cx="2771955" cy="3779044"/>
          </a:xfrm>
          <a:prstGeom prst="roundRect">
            <a:avLst/>
          </a:prstGeom>
          <a:noFill/>
          <a:ln>
            <a:solidFill>
              <a:schemeClr val="tx1">
                <a:lumMod val="75000"/>
              </a:schemeClr>
            </a:solidFill>
          </a:ln>
        </p:spPr>
        <p:txBody>
          <a:bodyPr wrap="square" rtlCol="0" anchor="ctr">
            <a:spAutoFit/>
          </a:bodyPr>
          <a:lstStyle/>
          <a:p>
            <a:r>
              <a:rPr lang="en-IN" sz="1400" b="1" dirty="0">
                <a:solidFill>
                  <a:srgbClr val="00B0F0"/>
                </a:solidFill>
              </a:rPr>
              <a:t>Benefits of Pipelines</a:t>
            </a:r>
            <a:endParaRPr lang="en-IN" sz="1400" dirty="0">
              <a:solidFill>
                <a:srgbClr val="00B0F0"/>
              </a:solidFill>
            </a:endParaRPr>
          </a:p>
          <a:p>
            <a:pPr lvl="0"/>
            <a:r>
              <a:rPr lang="en-IN" sz="1400" b="1" dirty="0"/>
              <a:t>Automation</a:t>
            </a:r>
            <a:r>
              <a:rPr lang="en-IN" sz="1400" dirty="0"/>
              <a:t>: </a:t>
            </a:r>
          </a:p>
          <a:p>
            <a:pPr lvl="1"/>
            <a:r>
              <a:rPr lang="en-IN" sz="1400" dirty="0"/>
              <a:t>Automate complex data workflows and eliminate manual tasks. </a:t>
            </a:r>
          </a:p>
          <a:p>
            <a:pPr lvl="0"/>
            <a:r>
              <a:rPr lang="en-IN" sz="1400" b="1" dirty="0"/>
              <a:t>Scheduling</a:t>
            </a:r>
            <a:r>
              <a:rPr lang="en-IN" sz="1400" dirty="0"/>
              <a:t>: </a:t>
            </a:r>
          </a:p>
          <a:p>
            <a:pPr lvl="1"/>
            <a:r>
              <a:rPr lang="en-IN" sz="1400" dirty="0"/>
              <a:t>Execute tasks on a defined schedule without human intervention.</a:t>
            </a:r>
          </a:p>
          <a:p>
            <a:pPr lvl="0"/>
            <a:r>
              <a:rPr lang="en-IN" sz="1400" b="1" dirty="0"/>
              <a:t>Scalability</a:t>
            </a:r>
            <a:r>
              <a:rPr lang="en-IN" sz="1400" dirty="0"/>
              <a:t>: </a:t>
            </a:r>
          </a:p>
          <a:p>
            <a:pPr lvl="1"/>
            <a:r>
              <a:rPr lang="en-IN" sz="1400" dirty="0"/>
              <a:t>Handle large volumes of data with ease. </a:t>
            </a:r>
          </a:p>
          <a:p>
            <a:pPr lvl="0"/>
            <a:r>
              <a:rPr lang="en-IN" sz="1400" b="1" dirty="0"/>
              <a:t>Orchestration</a:t>
            </a:r>
            <a:r>
              <a:rPr lang="en-IN" sz="1400" dirty="0"/>
              <a:t>: </a:t>
            </a:r>
          </a:p>
          <a:p>
            <a:pPr lvl="1"/>
            <a:r>
              <a:rPr lang="en-IN" sz="1400" dirty="0"/>
              <a:t>Coordinate different tasks and processes in a unified way.</a:t>
            </a:r>
          </a:p>
        </p:txBody>
      </p:sp>
    </p:spTree>
    <p:extLst>
      <p:ext uri="{BB962C8B-B14F-4D97-AF65-F5344CB8AC3E}">
        <p14:creationId xmlns:p14="http://schemas.microsoft.com/office/powerpoint/2010/main" val="407928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DF1A9-161E-20E2-571E-8904D3B18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81C7C-99E0-DAF8-3659-4DCE896A5788}"/>
              </a:ext>
            </a:extLst>
          </p:cNvPr>
          <p:cNvSpPr>
            <a:spLocks noGrp="1"/>
          </p:cNvSpPr>
          <p:nvPr>
            <p:ph type="title"/>
          </p:nvPr>
        </p:nvSpPr>
        <p:spPr/>
        <p:txBody>
          <a:bodyPr/>
          <a:lstStyle/>
          <a:p>
            <a:r>
              <a:rPr lang="en-IN" b="1" dirty="0"/>
              <a:t>Set Variable</a:t>
            </a:r>
          </a:p>
        </p:txBody>
      </p:sp>
      <p:sp>
        <p:nvSpPr>
          <p:cNvPr id="4" name="TextBox 3">
            <a:extLst>
              <a:ext uri="{FF2B5EF4-FFF2-40B4-BE49-F238E27FC236}">
                <a16:creationId xmlns:a16="http://schemas.microsoft.com/office/drawing/2014/main" id="{0A8BCB6B-AE0F-01D2-B525-E4C79DC5B485}"/>
              </a:ext>
            </a:extLst>
          </p:cNvPr>
          <p:cNvSpPr txBox="1"/>
          <p:nvPr/>
        </p:nvSpPr>
        <p:spPr>
          <a:xfrm>
            <a:off x="40258" y="1939670"/>
            <a:ext cx="3588587" cy="1532334"/>
          </a:xfrm>
          <a:prstGeom prst="roundRect">
            <a:avLst/>
          </a:prstGeom>
          <a:noFill/>
          <a:ln>
            <a:solidFill>
              <a:schemeClr val="tx1">
                <a:lumMod val="75000"/>
              </a:schemeClr>
            </a:solidFill>
          </a:ln>
        </p:spPr>
        <p:txBody>
          <a:bodyPr wrap="square" rtlCol="0" anchor="ctr">
            <a:spAutoFit/>
          </a:bodyPr>
          <a:lstStyle/>
          <a:p>
            <a:r>
              <a:rPr lang="en-IN" sz="1400" b="1" dirty="0"/>
              <a:t>Purpose of Set Variable Activity</a:t>
            </a:r>
            <a:endParaRPr lang="en-IN" sz="1400" dirty="0"/>
          </a:p>
          <a:p>
            <a:r>
              <a:rPr lang="en-IN" sz="1400" dirty="0"/>
              <a:t>The </a:t>
            </a:r>
            <a:r>
              <a:rPr lang="en-IN" sz="1400" b="1" dirty="0"/>
              <a:t>Set Variable</a:t>
            </a:r>
            <a:r>
              <a:rPr lang="en-IN" sz="1400" dirty="0"/>
              <a:t> activity allows you to assign a value to a pipeline variable. It’s useful for storing intermediate results, parameters, or temporary data that other activities in your pipeline can use.</a:t>
            </a:r>
          </a:p>
        </p:txBody>
      </p:sp>
      <p:sp>
        <p:nvSpPr>
          <p:cNvPr id="5" name="TextBox 4">
            <a:extLst>
              <a:ext uri="{FF2B5EF4-FFF2-40B4-BE49-F238E27FC236}">
                <a16:creationId xmlns:a16="http://schemas.microsoft.com/office/drawing/2014/main" id="{5CE5E7A4-E098-7F5F-F5D1-C3E840D7CE89}"/>
              </a:ext>
            </a:extLst>
          </p:cNvPr>
          <p:cNvSpPr txBox="1"/>
          <p:nvPr/>
        </p:nvSpPr>
        <p:spPr>
          <a:xfrm>
            <a:off x="3755365" y="2143981"/>
            <a:ext cx="8218097" cy="3405188"/>
          </a:xfrm>
          <a:prstGeom prst="roundRect">
            <a:avLst/>
          </a:prstGeom>
          <a:noFill/>
          <a:ln>
            <a:solidFill>
              <a:schemeClr val="tx1">
                <a:lumMod val="75000"/>
              </a:schemeClr>
            </a:solidFill>
          </a:ln>
        </p:spPr>
        <p:txBody>
          <a:bodyPr wrap="square" rtlCol="0">
            <a:spAutoFit/>
          </a:bodyPr>
          <a:lstStyle/>
          <a:p>
            <a:r>
              <a:rPr lang="en-IN" sz="1400" b="1" dirty="0"/>
              <a:t>Example Scenario</a:t>
            </a:r>
            <a:endParaRPr lang="en-IN" sz="1400" dirty="0"/>
          </a:p>
          <a:p>
            <a:r>
              <a:rPr lang="en-IN" sz="1200" dirty="0"/>
              <a:t>Imagine you have a pipeline that needs to process different files. You can use the </a:t>
            </a:r>
            <a:r>
              <a:rPr lang="en-IN" sz="1200" b="1" dirty="0"/>
              <a:t>Set Variable</a:t>
            </a:r>
            <a:r>
              <a:rPr lang="en-IN" sz="1200" dirty="0"/>
              <a:t> activity to dynamically set the file name:</a:t>
            </a:r>
          </a:p>
          <a:p>
            <a:pPr lvl="0"/>
            <a:r>
              <a:rPr lang="en-IN" sz="1200" b="1" dirty="0"/>
              <a:t>Define Variable</a:t>
            </a:r>
            <a:r>
              <a:rPr lang="en-IN" sz="1200" dirty="0"/>
              <a:t>:</a:t>
            </a:r>
          </a:p>
          <a:p>
            <a:pPr lvl="1"/>
            <a:r>
              <a:rPr lang="en-IN" sz="1200" dirty="0"/>
              <a:t>Name: </a:t>
            </a:r>
            <a:r>
              <a:rPr lang="en-IN" sz="1200" dirty="0" err="1"/>
              <a:t>FileName</a:t>
            </a:r>
            <a:endParaRPr lang="en-IN" sz="1200" dirty="0"/>
          </a:p>
          <a:p>
            <a:pPr lvl="1"/>
            <a:r>
              <a:rPr lang="en-IN" sz="1200" dirty="0"/>
              <a:t>Type: String</a:t>
            </a:r>
          </a:p>
          <a:p>
            <a:pPr lvl="0"/>
            <a:r>
              <a:rPr lang="en-IN" sz="1200" b="1" dirty="0"/>
              <a:t>Set Variable Activity</a:t>
            </a:r>
            <a:r>
              <a:rPr lang="en-IN" sz="1200" dirty="0"/>
              <a:t>:</a:t>
            </a:r>
          </a:p>
          <a:p>
            <a:pPr lvl="1"/>
            <a:r>
              <a:rPr lang="en-IN" sz="1200" dirty="0"/>
              <a:t>Variable name: </a:t>
            </a:r>
            <a:r>
              <a:rPr lang="en-IN" sz="1200" dirty="0" err="1"/>
              <a:t>FileName</a:t>
            </a:r>
            <a:endParaRPr lang="en-IN" sz="1200" dirty="0"/>
          </a:p>
          <a:p>
            <a:pPr lvl="1"/>
            <a:r>
              <a:rPr lang="en-IN" sz="1200" dirty="0"/>
              <a:t>Value: "sample.csv" (for a static value) or @concat('file_', pipeline().</a:t>
            </a:r>
            <a:r>
              <a:rPr lang="en-IN" sz="1200" dirty="0" err="1"/>
              <a:t>parameters.date</a:t>
            </a:r>
            <a:r>
              <a:rPr lang="en-IN" sz="1200" dirty="0"/>
              <a:t>, '.csv') (for a dynamic value).</a:t>
            </a:r>
          </a:p>
          <a:p>
            <a:r>
              <a:rPr lang="en-IN" sz="1200" b="1" dirty="0"/>
              <a:t>Using the Variable</a:t>
            </a:r>
            <a:endParaRPr lang="en-IN" sz="1200" dirty="0"/>
          </a:p>
          <a:p>
            <a:r>
              <a:rPr lang="en-IN" sz="1200" dirty="0"/>
              <a:t>Once you’ve set the variable, you can reference it in other activities using the syntax @variables('VariableName').</a:t>
            </a:r>
          </a:p>
          <a:p>
            <a:r>
              <a:rPr lang="en-IN" sz="1200" dirty="0"/>
              <a:t> Add 2 numbers:</a:t>
            </a:r>
          </a:p>
          <a:p>
            <a:r>
              <a:rPr lang="en-IN" sz="1200" dirty="0"/>
              <a:t>	Formula :@add(int(variable(‘variablename1’)),int(variable(‘</a:t>
            </a:r>
            <a:r>
              <a:rPr lang="en-IN" sz="1200" dirty="0" err="1"/>
              <a:t>variablename</a:t>
            </a:r>
            <a:r>
              <a:rPr lang="en-IN" sz="1200" dirty="0"/>
              <a:t>’)))</a:t>
            </a:r>
          </a:p>
          <a:p>
            <a:r>
              <a:rPr lang="en-IN" sz="1200" dirty="0"/>
              <a:t>	To convert into string : {@add(int(variable(‘variablename1’)),int(variable(‘variablename’)))}</a:t>
            </a:r>
          </a:p>
          <a:p>
            <a:r>
              <a:rPr lang="en-IN" sz="1200" b="1" dirty="0"/>
              <a:t>Parameters: </a:t>
            </a:r>
            <a:r>
              <a:rPr lang="en-IN" sz="1200" dirty="0"/>
              <a:t>defined at the pipeline level, can’t be modified.</a:t>
            </a:r>
          </a:p>
          <a:p>
            <a:r>
              <a:rPr lang="en-IN" sz="1200" dirty="0"/>
              <a:t>Pipeline level, LinkedList level, Dataset level these 3 levels only we can create parameters.</a:t>
            </a:r>
          </a:p>
        </p:txBody>
      </p:sp>
      <p:sp>
        <p:nvSpPr>
          <p:cNvPr id="8" name="TextBox 7">
            <a:extLst>
              <a:ext uri="{FF2B5EF4-FFF2-40B4-BE49-F238E27FC236}">
                <a16:creationId xmlns:a16="http://schemas.microsoft.com/office/drawing/2014/main" id="{C9A94A3D-AAAF-18C3-DA36-43D3D0353BD2}"/>
              </a:ext>
            </a:extLst>
          </p:cNvPr>
          <p:cNvSpPr txBox="1"/>
          <p:nvPr/>
        </p:nvSpPr>
        <p:spPr>
          <a:xfrm>
            <a:off x="0" y="3583218"/>
            <a:ext cx="3628846" cy="2962513"/>
          </a:xfrm>
          <a:prstGeom prst="roundRect">
            <a:avLst/>
          </a:prstGeom>
          <a:noFill/>
          <a:ln>
            <a:solidFill>
              <a:schemeClr val="tx1">
                <a:lumMod val="75000"/>
              </a:schemeClr>
            </a:solidFill>
          </a:ln>
        </p:spPr>
        <p:txBody>
          <a:bodyPr wrap="square" rtlCol="0" anchor="ctr">
            <a:spAutoFit/>
          </a:bodyPr>
          <a:lstStyle/>
          <a:p>
            <a:r>
              <a:rPr lang="en-IN" sz="1200" b="1" dirty="0"/>
              <a:t>Key Components</a:t>
            </a:r>
            <a:endParaRPr lang="en-IN" sz="1200" dirty="0"/>
          </a:p>
          <a:p>
            <a:pPr lvl="0"/>
            <a:r>
              <a:rPr lang="en-IN" sz="1200" b="1" dirty="0"/>
              <a:t>Variables</a:t>
            </a:r>
            <a:r>
              <a:rPr lang="en-IN" sz="1200" dirty="0"/>
              <a:t>:</a:t>
            </a:r>
          </a:p>
          <a:p>
            <a:pPr lvl="1"/>
            <a:r>
              <a:rPr lang="en-IN" sz="1200" b="1" dirty="0"/>
              <a:t>Definition</a:t>
            </a:r>
            <a:r>
              <a:rPr lang="en-IN" sz="1200" dirty="0"/>
              <a:t>: Variables in ADF are placeholders for values that you can use and update during the execution of a pipeline.</a:t>
            </a:r>
          </a:p>
          <a:p>
            <a:pPr lvl="1"/>
            <a:r>
              <a:rPr lang="en-IN" sz="1200" b="1" dirty="0">
                <a:solidFill>
                  <a:srgbClr val="C00000"/>
                </a:solidFill>
              </a:rPr>
              <a:t>Types</a:t>
            </a:r>
            <a:r>
              <a:rPr lang="en-IN" sz="1200" dirty="0">
                <a:solidFill>
                  <a:srgbClr val="C00000"/>
                </a:solidFill>
              </a:rPr>
              <a:t>: Supported types include Integer, String, Boolean, and Array.</a:t>
            </a:r>
          </a:p>
          <a:p>
            <a:pPr lvl="0"/>
            <a:r>
              <a:rPr lang="en-IN" sz="1200" b="1" dirty="0"/>
              <a:t>Dynamic Content</a:t>
            </a:r>
            <a:r>
              <a:rPr lang="en-IN" sz="1200" dirty="0"/>
              <a:t>:</a:t>
            </a:r>
          </a:p>
          <a:p>
            <a:pPr lvl="1"/>
            <a:r>
              <a:rPr lang="en-IN" sz="1200" b="1" dirty="0"/>
              <a:t>Expressions</a:t>
            </a:r>
            <a:r>
              <a:rPr lang="en-IN" sz="1200" dirty="0"/>
              <a:t>: You can use ADF expressions to dynamically set the value of the variable based on the pipeline parameters, system variables, or output from previous activities.</a:t>
            </a:r>
          </a:p>
        </p:txBody>
      </p:sp>
    </p:spTree>
    <p:extLst>
      <p:ext uri="{BB962C8B-B14F-4D97-AF65-F5344CB8AC3E}">
        <p14:creationId xmlns:p14="http://schemas.microsoft.com/office/powerpoint/2010/main" val="2380390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478F-3F48-BB6F-9E19-A9AE03EDF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63627-B945-5F39-1B1A-82F5C523C3D9}"/>
              </a:ext>
            </a:extLst>
          </p:cNvPr>
          <p:cNvSpPr>
            <a:spLocks noGrp="1"/>
          </p:cNvSpPr>
          <p:nvPr>
            <p:ph type="title"/>
          </p:nvPr>
        </p:nvSpPr>
        <p:spPr/>
        <p:txBody>
          <a:bodyPr/>
          <a:lstStyle/>
          <a:p>
            <a:r>
              <a:rPr lang="en-IN" dirty="0"/>
              <a:t>Copy Activity</a:t>
            </a:r>
            <a:endParaRPr lang="en-IN" b="1" dirty="0"/>
          </a:p>
        </p:txBody>
      </p:sp>
      <p:sp>
        <p:nvSpPr>
          <p:cNvPr id="4" name="TextBox 3">
            <a:extLst>
              <a:ext uri="{FF2B5EF4-FFF2-40B4-BE49-F238E27FC236}">
                <a16:creationId xmlns:a16="http://schemas.microsoft.com/office/drawing/2014/main" id="{A6F99272-2ED2-A947-8B6A-0123FDF1D8EF}"/>
              </a:ext>
            </a:extLst>
          </p:cNvPr>
          <p:cNvSpPr txBox="1"/>
          <p:nvPr/>
        </p:nvSpPr>
        <p:spPr>
          <a:xfrm>
            <a:off x="40258" y="1939670"/>
            <a:ext cx="3588587" cy="1532334"/>
          </a:xfrm>
          <a:prstGeom prst="roundRect">
            <a:avLst/>
          </a:prstGeom>
          <a:noFill/>
          <a:ln>
            <a:solidFill>
              <a:schemeClr val="tx1">
                <a:lumMod val="75000"/>
              </a:schemeClr>
            </a:solidFill>
          </a:ln>
        </p:spPr>
        <p:txBody>
          <a:bodyPr wrap="square" rtlCol="0" anchor="ctr">
            <a:spAutoFit/>
          </a:bodyPr>
          <a:lstStyle/>
          <a:p>
            <a:r>
              <a:rPr lang="en-IN" sz="1400" b="1" dirty="0"/>
              <a:t>Purpose of Set Variable Activity</a:t>
            </a:r>
            <a:endParaRPr lang="en-IN" sz="1400" dirty="0"/>
          </a:p>
          <a:p>
            <a:r>
              <a:rPr lang="en-IN" sz="1400" dirty="0"/>
              <a:t>The </a:t>
            </a:r>
            <a:r>
              <a:rPr lang="en-IN" sz="1400" b="1" dirty="0"/>
              <a:t>Set Variable</a:t>
            </a:r>
            <a:r>
              <a:rPr lang="en-IN" sz="1400" dirty="0"/>
              <a:t> activity allows you to assign a value to a pipeline variable. It’s useful for storing intermediate results, parameters, or temporary data that other activities in your pipeline can use.</a:t>
            </a:r>
          </a:p>
        </p:txBody>
      </p:sp>
      <p:sp>
        <p:nvSpPr>
          <p:cNvPr id="5" name="TextBox 4">
            <a:extLst>
              <a:ext uri="{FF2B5EF4-FFF2-40B4-BE49-F238E27FC236}">
                <a16:creationId xmlns:a16="http://schemas.microsoft.com/office/drawing/2014/main" id="{492E6FE3-C0EA-9789-B131-D7137489225D}"/>
              </a:ext>
            </a:extLst>
          </p:cNvPr>
          <p:cNvSpPr txBox="1"/>
          <p:nvPr/>
        </p:nvSpPr>
        <p:spPr>
          <a:xfrm>
            <a:off x="3755365" y="2143981"/>
            <a:ext cx="8218097" cy="3405188"/>
          </a:xfrm>
          <a:prstGeom prst="roundRect">
            <a:avLst/>
          </a:prstGeom>
          <a:noFill/>
          <a:ln>
            <a:solidFill>
              <a:schemeClr val="tx1">
                <a:lumMod val="75000"/>
              </a:schemeClr>
            </a:solidFill>
          </a:ln>
        </p:spPr>
        <p:txBody>
          <a:bodyPr wrap="square" rtlCol="0">
            <a:spAutoFit/>
          </a:bodyPr>
          <a:lstStyle/>
          <a:p>
            <a:r>
              <a:rPr lang="en-IN" sz="1400" b="1" dirty="0"/>
              <a:t>Example Scenario</a:t>
            </a:r>
            <a:endParaRPr lang="en-IN" sz="1400" dirty="0"/>
          </a:p>
          <a:p>
            <a:r>
              <a:rPr lang="en-IN" sz="1200" dirty="0"/>
              <a:t>Imagine you have a pipeline that needs to process different files. You can use the </a:t>
            </a:r>
            <a:r>
              <a:rPr lang="en-IN" sz="1200" b="1" dirty="0"/>
              <a:t>Set Variable</a:t>
            </a:r>
            <a:r>
              <a:rPr lang="en-IN" sz="1200" dirty="0"/>
              <a:t> activity to dynamically set the file name:</a:t>
            </a:r>
          </a:p>
          <a:p>
            <a:pPr lvl="0"/>
            <a:r>
              <a:rPr lang="en-IN" sz="1200" b="1" dirty="0"/>
              <a:t>Define Variable</a:t>
            </a:r>
            <a:r>
              <a:rPr lang="en-IN" sz="1200" dirty="0"/>
              <a:t>:</a:t>
            </a:r>
          </a:p>
          <a:p>
            <a:pPr lvl="1"/>
            <a:r>
              <a:rPr lang="en-IN" sz="1200" dirty="0"/>
              <a:t>Name: </a:t>
            </a:r>
            <a:r>
              <a:rPr lang="en-IN" sz="1200" dirty="0" err="1"/>
              <a:t>FileName</a:t>
            </a:r>
            <a:endParaRPr lang="en-IN" sz="1200" dirty="0"/>
          </a:p>
          <a:p>
            <a:pPr lvl="1"/>
            <a:r>
              <a:rPr lang="en-IN" sz="1200" dirty="0"/>
              <a:t>Type: String</a:t>
            </a:r>
          </a:p>
          <a:p>
            <a:pPr lvl="0"/>
            <a:r>
              <a:rPr lang="en-IN" sz="1200" b="1" dirty="0"/>
              <a:t>Set Variable Activity</a:t>
            </a:r>
            <a:r>
              <a:rPr lang="en-IN" sz="1200" dirty="0"/>
              <a:t>:</a:t>
            </a:r>
          </a:p>
          <a:p>
            <a:pPr lvl="1"/>
            <a:r>
              <a:rPr lang="en-IN" sz="1200" dirty="0"/>
              <a:t>Variable name: </a:t>
            </a:r>
            <a:r>
              <a:rPr lang="en-IN" sz="1200" dirty="0" err="1"/>
              <a:t>FileName</a:t>
            </a:r>
            <a:endParaRPr lang="en-IN" sz="1200" dirty="0"/>
          </a:p>
          <a:p>
            <a:pPr lvl="1"/>
            <a:r>
              <a:rPr lang="en-IN" sz="1200" dirty="0"/>
              <a:t>Value: "sample.csv" (for a static value) or @concat('file_', pipeline().</a:t>
            </a:r>
            <a:r>
              <a:rPr lang="en-IN" sz="1200" dirty="0" err="1"/>
              <a:t>parameters.date</a:t>
            </a:r>
            <a:r>
              <a:rPr lang="en-IN" sz="1200" dirty="0"/>
              <a:t>, '.csv') (for a dynamic value).</a:t>
            </a:r>
          </a:p>
          <a:p>
            <a:r>
              <a:rPr lang="en-IN" sz="1200" b="1" dirty="0"/>
              <a:t>Using the Variable</a:t>
            </a:r>
            <a:endParaRPr lang="en-IN" sz="1200" dirty="0"/>
          </a:p>
          <a:p>
            <a:r>
              <a:rPr lang="en-IN" sz="1200" dirty="0"/>
              <a:t>Once you’ve set the variable, you can reference it in other activities using the syntax @variables('VariableName').</a:t>
            </a:r>
          </a:p>
          <a:p>
            <a:r>
              <a:rPr lang="en-IN" sz="1200" dirty="0"/>
              <a:t> Add 2 numbers:</a:t>
            </a:r>
          </a:p>
          <a:p>
            <a:r>
              <a:rPr lang="en-IN" sz="1200" dirty="0"/>
              <a:t>	Formula :@add(int(variable(‘variablename1’)),int(variable(‘</a:t>
            </a:r>
            <a:r>
              <a:rPr lang="en-IN" sz="1200" dirty="0" err="1"/>
              <a:t>variablename</a:t>
            </a:r>
            <a:r>
              <a:rPr lang="en-IN" sz="1200" dirty="0"/>
              <a:t>’)))</a:t>
            </a:r>
          </a:p>
          <a:p>
            <a:r>
              <a:rPr lang="en-IN" sz="1200" dirty="0"/>
              <a:t>	To convert into string : {@add(int(variable(‘variablename1’)),int(variable(‘variablename’)))}</a:t>
            </a:r>
          </a:p>
          <a:p>
            <a:r>
              <a:rPr lang="en-IN" sz="1200" b="1" dirty="0"/>
              <a:t>Parameters: </a:t>
            </a:r>
            <a:r>
              <a:rPr lang="en-IN" sz="1200" dirty="0"/>
              <a:t>defined at the pipeline level, can’t be modified.</a:t>
            </a:r>
          </a:p>
          <a:p>
            <a:r>
              <a:rPr lang="en-IN" sz="1200" dirty="0"/>
              <a:t>Pipeline level, LinkedList level, Dataset level these 3 levels only we can create parameters.</a:t>
            </a:r>
          </a:p>
        </p:txBody>
      </p:sp>
      <p:sp>
        <p:nvSpPr>
          <p:cNvPr id="8" name="TextBox 7">
            <a:extLst>
              <a:ext uri="{FF2B5EF4-FFF2-40B4-BE49-F238E27FC236}">
                <a16:creationId xmlns:a16="http://schemas.microsoft.com/office/drawing/2014/main" id="{F377DBE4-0DAF-3EC8-D21B-44B8C126395A}"/>
              </a:ext>
            </a:extLst>
          </p:cNvPr>
          <p:cNvSpPr txBox="1"/>
          <p:nvPr/>
        </p:nvSpPr>
        <p:spPr>
          <a:xfrm>
            <a:off x="0" y="3583218"/>
            <a:ext cx="3628846" cy="2962513"/>
          </a:xfrm>
          <a:prstGeom prst="roundRect">
            <a:avLst/>
          </a:prstGeom>
          <a:noFill/>
          <a:ln>
            <a:solidFill>
              <a:schemeClr val="tx1">
                <a:lumMod val="75000"/>
              </a:schemeClr>
            </a:solidFill>
          </a:ln>
        </p:spPr>
        <p:txBody>
          <a:bodyPr wrap="square" rtlCol="0" anchor="ctr">
            <a:spAutoFit/>
          </a:bodyPr>
          <a:lstStyle/>
          <a:p>
            <a:r>
              <a:rPr lang="en-IN" sz="1200" b="1" dirty="0"/>
              <a:t>Key Components</a:t>
            </a:r>
            <a:endParaRPr lang="en-IN" sz="1200" dirty="0"/>
          </a:p>
          <a:p>
            <a:pPr lvl="0"/>
            <a:r>
              <a:rPr lang="en-IN" sz="1200" b="1" dirty="0"/>
              <a:t>Variables</a:t>
            </a:r>
            <a:r>
              <a:rPr lang="en-IN" sz="1200" dirty="0"/>
              <a:t>:</a:t>
            </a:r>
          </a:p>
          <a:p>
            <a:pPr lvl="1"/>
            <a:r>
              <a:rPr lang="en-IN" sz="1200" b="1" dirty="0"/>
              <a:t>Definition</a:t>
            </a:r>
            <a:r>
              <a:rPr lang="en-IN" sz="1200" dirty="0"/>
              <a:t>: Variables in ADF are placeholders for values that you can use and update during the execution of a pipeline.</a:t>
            </a:r>
          </a:p>
          <a:p>
            <a:pPr lvl="1"/>
            <a:r>
              <a:rPr lang="en-IN" sz="1200" b="1" dirty="0">
                <a:solidFill>
                  <a:srgbClr val="C00000"/>
                </a:solidFill>
              </a:rPr>
              <a:t>Types</a:t>
            </a:r>
            <a:r>
              <a:rPr lang="en-IN" sz="1200" dirty="0">
                <a:solidFill>
                  <a:srgbClr val="C00000"/>
                </a:solidFill>
              </a:rPr>
              <a:t>: Supported types include Integer, String, Boolean, and Array.</a:t>
            </a:r>
          </a:p>
          <a:p>
            <a:pPr lvl="0"/>
            <a:r>
              <a:rPr lang="en-IN" sz="1200" b="1" dirty="0"/>
              <a:t>Dynamic Content</a:t>
            </a:r>
            <a:r>
              <a:rPr lang="en-IN" sz="1200" dirty="0"/>
              <a:t>:</a:t>
            </a:r>
          </a:p>
          <a:p>
            <a:pPr lvl="1"/>
            <a:r>
              <a:rPr lang="en-IN" sz="1200" b="1" dirty="0"/>
              <a:t>Expressions</a:t>
            </a:r>
            <a:r>
              <a:rPr lang="en-IN" sz="1200" dirty="0"/>
              <a:t>: You can use ADF expressions to dynamically set the value of the variable based on the pipeline parameters, system variables, or output from previous activities.</a:t>
            </a:r>
          </a:p>
        </p:txBody>
      </p:sp>
    </p:spTree>
    <p:extLst>
      <p:ext uri="{BB962C8B-B14F-4D97-AF65-F5344CB8AC3E}">
        <p14:creationId xmlns:p14="http://schemas.microsoft.com/office/powerpoint/2010/main" val="3184561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Educational subjects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presentation, chalkboard illustrations design (widescreen)</Template>
  <TotalTime>1971</TotalTime>
  <Words>4294</Words>
  <Application>Microsoft Office PowerPoint</Application>
  <PresentationFormat>Widescreen</PresentationFormat>
  <Paragraphs>322</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Educational subjects 16x9</vt:lpstr>
      <vt:lpstr>Azure Data Engineering</vt:lpstr>
      <vt:lpstr>Types of Subscriptions </vt:lpstr>
      <vt:lpstr>Resource Group </vt:lpstr>
      <vt:lpstr>Linked Services</vt:lpstr>
      <vt:lpstr>Integration Runtime (IR)</vt:lpstr>
      <vt:lpstr>Integration Runtime (IR)</vt:lpstr>
      <vt:lpstr>PowerPoint Presentation</vt:lpstr>
      <vt:lpstr>Dataset</vt:lpstr>
      <vt:lpstr>storage account</vt:lpstr>
      <vt:lpstr>storage account</vt:lpstr>
      <vt:lpstr>storage account</vt:lpstr>
      <vt:lpstr>storage account</vt:lpstr>
      <vt:lpstr>Pipeline</vt:lpstr>
      <vt:lpstr>Set Variable</vt:lpstr>
      <vt:lpstr>Copy Activity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Ravi Sukanya</dc:creator>
  <cp:lastModifiedBy>Training Poc</cp:lastModifiedBy>
  <cp:revision>145</cp:revision>
  <dcterms:created xsi:type="dcterms:W3CDTF">2025-09-14T10:41:04Z</dcterms:created>
  <dcterms:modified xsi:type="dcterms:W3CDTF">2026-06-06T10:55:45Z</dcterms:modified>
</cp:coreProperties>
</file>